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Inter" panose="02000503000000020004"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Open with the question: VW has cut capacity, so why is its own brand still earning 2.4% against a 6.5% target? Three parts: why the gap persists, what we recommend, how it is delivered. Roles: split the speaking across the five authors before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State the gap plainly: 2.4% reported, 3.8% before special items, against a 6.5% target for the VW brand. Škoda earns 8.5%, so the group can do better in the same market. Caveat if asked: the 6.5% target was set in 2023 and we have not checked whether it was restated.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Walk the line: fall after the duties started on 30 Oct 2024, then a recovery past the old level. Averages exclude October 2024, the transition month. The data covers all China-origin makers, including Western brands built in China, not BYD alone. The duties slowed imports for about a year, not for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Average value per car fell 29% from €22,018 before the duties to €15,593 in 2026. Adding 27% duties gives about €19,700, which is €1,309 below the VW ID. Polo Trend and €44 below the BYD Dolphin Surf. Caveats: the 27% is BYD's rate (Tesla 7.8%, Geely 18.8%, SAIC 35.3%), customs value excludes shipping and dealer margin, and we have not confirmed whether the VW price is before any subsidy. AUDIENCE CHECKPOINT 1: "Which would you buy at these prices, and why?" Take one or two answers, then move to the Big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Pause on this slide. This is the one sentence we want the board to remember. WHY ended with three facts: a 4.1 point margin gap, imports 36% above their old level, and import prices near VW's entry price. The Big Idea answers all three with one move: take cost out of every entry car. The rest of the talk tests this against the alternative and shows how to deliver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Two options only. Option A is what VW has already announced. Option B adds one unit-cost program on top. Compare on the four criteria the board cares about: margin, capital, union feasibility and speed. Capital: option A already carries the committed partner spend, up to USD 5.8B for Rivian by January 2028 (about USD 3.3B paid by mid-2025, up to USD 2.5B more on 2026-27 milestones; Annual Report 2025, PDF p86) and R&amp;D of €19.4B in 2025 (p119). That spend is not extra under option B. VW does not publish what a unit-cost program would cost, so the figure on the slide is a payback ceiling, not a forecast: the most the program could cost and still pay back by 2030 (annual saving of EUR 147M-1,043M x 4 years = EUR 0.6-4.2B). Phase gates should release money only while projected cost stays under it. Program estimate: the four lever ranges sum to EUR 701-2,607 per car, less a 20-30% overlap haircut = EUR 491-2,086; x 300,000-500,000 entry cars a year = EUR 147M-1.0B a year; divided by EUR 86.6B VW Passenger Cars revenue = 0.17-1.20 margin points, or 4-29% of the 4.1-point gap. Entry cars alone do not close the gap, so say that the approach must extend to higher-volume models. All assumptions are labelled in notebook section 3.6 and in the reasoning document. The next slide shows why option A alone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This is the evidence behind option A. Reported savings are large: €15B in 2024 and €18B expected in 2025, plus €1.5B a year in labour savings by 2030 and €1B of production savings to 2030. Yet the Group margin is 3.8% and the VW brand 2.4%. Do not add the bars: the bases differ (per year, per year by 2030, cumulative). The savings figures come from press reports, not VW releases, so say so. AUDIENCE CHECKPOINT 2: "If these savings are real, why has the margin not moved? What is still missing?" Take one answer, then turn to how the unit-cost program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These four levers all attack one number: cost per entry car. Each row shows what public sources confirm. Sources by row, all PDF page numbers of the VW Annual Report 2025: platform p8 and p143; software p86 (Rivian, up to USD 5.8B by Jan 2028), p460 (CARIAD operating result -2.2B), p9 (zonal architecture first used in the ID. Every1, launching 2027); battery p143 (unified cell, LFP and NMC, up to 80% of models) and electrive 15 Dec 2025 (ID. Polo small pack is 37 kWh LFP); sourcing p118 (cost of sales grew faster than revenue on higher material costs) and the UBS 2023 BYD Seal teardown as reported in the press (check the UBS report before quoting). Per-car figures are team estimates from notebook section 3.5, not VW data. Platform EUR 84-281: Group R&amp;D ratio 6.7% (Annual Report p119) x ID. Polo ex-VAT price EUR 21,004 = about EUR 1,407 of R&amp;D per car, x 30-50% platform share (assumption) x 20-40% cut from sharing across four models (assumption). Software EUR 49-121: CARIAD 2025 operating loss EUR 2.18B (p458) / 8.98M Group deliveries (p97) = about EUR 243 per car, x 20-50% avoided with an external partner (assumption). Battery EUR 305-1,102: 37 kWh pack (electrive) x pack cost USD 99-131/kWh (BNEF 2025 EV pack average USD 99; high end is China USD 84 x 1.56 for Europe, derived, verify) x 10-25% cost reduction from chemistry and the unified cell (assumption; VW's own aim is up to 50% in the entry segment, Power Day 2021) / USD per EUR 1.10-1.20 (assumption, check the ECB rate). Sourcing EUR 263-1,103: entry price ex-VAT EUR 21,004 as a cost proxy x UBS 2023 cost gap to the BYD Seal of 25-35% (via press, check the UBS report) x 5-15% of that gap closable by re-tendering (assumption: BYD makes about 75% of its parts in-house, which re-tendering cannot copy). VW does not publish unit costs by lever; they sit in internal cost models and supplier contracts, so phase 1 sizes them with VW's own data. The ranges overlap, so do not add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Three phases, each with a gate so the board releases money only when the last phase delivered. Phase 1 sizes the levers and picks partners. Phase 2 launches the first entry model and re-tenders parts. Phase 3 scales across entry models, alongside the labour savings already reported for 2030. Dates and gate thresholds are our proposal, not VW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Execution risk is mostly about people. Works Council and IG Metall care about jobs and capacity, so tie the program to the labour savings already reported rather than adding new cuts. Partners need clear governance over technology and data. The boards want margin recovery with capital discipline, which the gates in the roadmap provide. If asked about a stress test, say it is still to do: price floor changes and BYD building cars in Hungary would both shift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then 3:00 of questions. Close by returning to the Big Idea: announced savings have not closed the gap, imports are back, so cut cost per entry car. Three asks: adopt the target, release phase 1, set gates. Open the questions with the prompt on the slide. Likely questions: where do the savings figures come from (press reports; VW's own numbers needed), was the 6.5% target restated (not checked), and what does each lever save per car (not yet sized).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782241"/>
          </a:xfrm>
          <a:prstGeom prst="rect">
            <a:avLst/>
          </a:prstGeom>
          <a:noFill/>
          <a:ln/>
        </p:spPr>
        <p:txBody>
          <a:bodyPr wrap="square" lIns="0" tIns="0" rIns="0" bIns="0" rtlCol="0" anchor="t"/>
          <a:lstStyle>
            <a:lvl1pPr algn="l" indent="0" marL="0">
              <a:lnSpc>
                <a:spcPct val="115000"/>
              </a:lnSpc>
              <a:buNone/>
              <a:defRPr lang="en-US" sz="2800" dirty="0">
                <a:solidFill>
                  <a:srgbClr val="002733"/>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214761"/>
            <a:ext cx="10566400" cy="3830439"/>
          </a:xfrm>
          <a:prstGeom prst="rect">
            <a:avLst/>
          </a:prstGeom>
          <a:noFill/>
          <a:ln/>
        </p:spPr>
        <p:txBody>
          <a:bodyPr wrap="square" lIns="0" tIns="0" rIns="0" bIns="0" rtlCol="0" anchor="t"/>
          <a:lstStyle>
            <a:lvl1pPr algn="l" indent="0" marL="0">
              <a:lnSpc>
                <a:spcPct val="140000"/>
              </a:lnSpc>
              <a:buNone/>
              <a:defRPr lang="en-US" sz="1600" dirty="0">
                <a:solidFill>
                  <a:srgbClr val="002733"/>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782241"/>
          </a:xfrm>
          <a:prstGeom prst="rect">
            <a:avLst/>
          </a:prstGeom>
          <a:noFill/>
          <a:ln/>
        </p:spPr>
        <p:txBody>
          <a:bodyPr wrap="square" lIns="0" tIns="0" rIns="0" bIns="0" rtlCol="0" anchor="t"/>
          <a:lstStyle>
            <a:lvl1pPr algn="l" indent="0" marL="0">
              <a:lnSpc>
                <a:spcPct val="115000"/>
              </a:lnSpc>
              <a:buNone/>
              <a:defRPr lang="en-US" sz="2800" dirty="0">
                <a:solidFill>
                  <a:srgbClr val="002733"/>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214761"/>
            <a:ext cx="10566400" cy="3830439"/>
          </a:xfrm>
          <a:prstGeom prst="rect">
            <a:avLst/>
          </a:prstGeom>
          <a:noFill/>
          <a:ln/>
        </p:spPr>
        <p:txBody>
          <a:bodyPr wrap="square" lIns="0" tIns="0" rIns="0" bIns="0" rtlCol="0" anchor="t"/>
          <a:lstStyle>
            <a:lvl1pPr algn="l" indent="0" marL="0">
              <a:lnSpc>
                <a:spcPct val="140000"/>
              </a:lnSpc>
              <a:buNone/>
              <a:defRPr lang="en-US" sz="1600" dirty="0">
                <a:solidFill>
                  <a:srgbClr val="002733"/>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733"/>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0" y="0"/>
            <a:ext cx="152400" cy="6858000"/>
          </a:xfrm>
          <a:prstGeom prst="rect">
            <a:avLst/>
          </a:prstGeom>
        </p:spPr>
      </p:pic>
      <p:sp>
        <p:nvSpPr>
          <p:cNvPr id="3"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7C9C4"/>
                </a:solidFill>
                <a:latin typeface="Inter" pitchFamily="34" charset="0"/>
                <a:ea typeface="Inter" pitchFamily="34" charset="-122"/>
                <a:cs typeface="Inter" pitchFamily="34" charset="-120"/>
              </a:rPr>
              <a:t>Volkswagen Group · Strategy case</a:t>
            </a:r>
            <a:endParaRPr lang="en-US" sz="1400" dirty="0"/>
          </a:p>
        </p:txBody>
      </p:sp>
      <p:sp>
        <p:nvSpPr>
          <p:cNvPr id="4" name="Text 1"/>
          <p:cNvSpPr/>
          <p:nvPr>
            <p:ph type="title"/>
          </p:nvPr>
        </p:nvSpPr>
        <p:spPr>
          <a:xfrm>
            <a:off x="812800" y="2222599"/>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4F7F7"/>
                </a:solidFill>
                <a:latin typeface="Inter" pitchFamily="34" charset="0"/>
                <a:ea typeface="Inter" pitchFamily="34" charset="-122"/>
                <a:cs typeface="Inter" pitchFamily="34" charset="-120"/>
              </a:rPr>
              <a:t>Capacity cuts bought time, not competitiveness</a:t>
            </a:r>
            <a:endParaRPr lang="en-US" sz="4800" dirty="0"/>
          </a:p>
        </p:txBody>
      </p:sp>
      <p:sp>
        <p:nvSpPr>
          <p:cNvPr id="5" name="Text 2"/>
          <p:cNvSpPr/>
          <p:nvPr/>
        </p:nvSpPr>
        <p:spPr>
          <a:xfrm>
            <a:off x="812800" y="376684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87C9C4"/>
                </a:solidFill>
                <a:latin typeface="Inter" pitchFamily="34" charset="0"/>
                <a:ea typeface="Inter" pitchFamily="34" charset="-122"/>
                <a:cs typeface="Inter" pitchFamily="34" charset="-120"/>
              </a:rPr>
              <a:t>VW's next move on unit cost</a:t>
            </a:r>
            <a:endParaRPr lang="en-US" sz="2200" dirty="0"/>
          </a:p>
        </p:txBody>
      </p:sp>
      <p:sp>
        <p:nvSpPr>
          <p:cNvPr id="6" name="Text 3"/>
          <p:cNvSpPr/>
          <p:nvPr/>
        </p:nvSpPr>
        <p:spPr>
          <a:xfrm>
            <a:off x="812800" y="52629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AAA3"/>
                </a:solidFill>
                <a:latin typeface="Inter" pitchFamily="34" charset="0"/>
                <a:ea typeface="Inter" pitchFamily="34" charset="-122"/>
                <a:cs typeface="Inter" pitchFamily="34" charset="-120"/>
              </a:rPr>
              <a:t>Presented by</a:t>
            </a:r>
            <a:endParaRPr lang="en-US" sz="1200" dirty="0"/>
          </a:p>
        </p:txBody>
      </p:sp>
      <p:sp>
        <p:nvSpPr>
          <p:cNvPr id="7" name="Text 4"/>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4F7F7"/>
                </a:solidFill>
                <a:latin typeface="Inter" pitchFamily="34" charset="0"/>
                <a:ea typeface="Inter" pitchFamily="34" charset="-122"/>
                <a:cs typeface="Inter" pitchFamily="34" charset="-120"/>
              </a:rPr>
              <a:t>Ben An · Dan Mosu · Kai Clancy · Kate Bloom · Priyanka Govani</a:t>
            </a:r>
            <a:endParaRPr lang="en-US" sz="16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C9C4"/>
                </a:solidFill>
                <a:latin typeface="Inter" pitchFamily="34" charset="0"/>
                <a:ea typeface="Inter" pitchFamily="34" charset="-122"/>
                <a:cs typeface="Inter" pitchFamily="34"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WHY · The margin gap</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VW's own brand earns 2.4% against a 6.5% target, while Škoda earns 8.5%</a:t>
            </a:r>
            <a:endParaRPr lang="en-US" sz="2800" dirty="0"/>
          </a:p>
        </p:txBody>
      </p:sp>
      <p:sp>
        <p:nvSpPr>
          <p:cNvPr id="4" name="Shape 2"/>
          <p:cNvSpPr/>
          <p:nvPr/>
        </p:nvSpPr>
        <p:spPr>
          <a:xfrm>
            <a:off x="812800" y="2163961"/>
            <a:ext cx="6604000" cy="3124200"/>
          </a:xfrm>
          <a:prstGeom prst="rect">
            <a:avLst/>
          </a:prstGeom>
          <a:solidFill>
            <a:srgbClr val="FFFFFF"/>
          </a:solidFill>
          <a:ln/>
        </p:spPr>
      </p:sp>
      <p:pic>
        <p:nvPicPr>
          <p:cNvPr id="5" name="Image 0" descr="Bar chart of H1 2026 operating margins: VW Passenger Cars 2.4%, Škoda 8.5%, against the 6.5% target">    </p:cNvPr>
          <p:cNvPicPr>
            <a:picLocks noChangeAspect="1"/>
          </p:cNvPicPr>
          <p:nvPr/>
        </p:nvPicPr>
        <p:blipFill>
          <a:blip r:embed="rId1"/>
          <a:srcRect l="-70" r="-70" t="0" b="0"/>
          <a:stretch/>
        </p:blipFill>
        <p:spPr>
          <a:xfrm>
            <a:off x="819150" y="2170311"/>
            <a:ext cx="6591300" cy="3111500"/>
          </a:xfrm>
          <a:prstGeom prst="rect">
            <a:avLst/>
          </a:prstGeom>
        </p:spPr>
      </p:pic>
      <p:sp>
        <p:nvSpPr>
          <p:cNvPr id="6" name="Shape 3"/>
          <p:cNvSpPr/>
          <p:nvPr/>
        </p:nvSpPr>
        <p:spPr>
          <a:xfrm>
            <a:off x="815975" y="2167136"/>
            <a:ext cx="6597650" cy="3117850"/>
          </a:xfrm>
          <a:prstGeom prst="rect">
            <a:avLst/>
          </a:prstGeom>
          <a:noFill/>
          <a:ln w="6350">
            <a:solidFill>
              <a:srgbClr val="D3DEDD"/>
            </a:solidFill>
            <a:prstDash val="solid"/>
          </a:ln>
        </p:spPr>
      </p:sp>
      <p:sp>
        <p:nvSpPr>
          <p:cNvPr id="7" name="Text 4"/>
          <p:cNvSpPr/>
          <p:nvPr/>
        </p:nvSpPr>
        <p:spPr>
          <a:xfrm>
            <a:off x="7823200" y="2527201"/>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08C82"/>
                </a:solidFill>
                <a:latin typeface="Inter" pitchFamily="34" charset="0"/>
                <a:ea typeface="Inter" pitchFamily="34" charset="-122"/>
                <a:cs typeface="Inter" pitchFamily="34" charset="-120"/>
              </a:rPr>
              <a:t>4.1 pts</a:t>
            </a:r>
            <a:endParaRPr lang="en-US" sz="6000" dirty="0"/>
          </a:p>
        </p:txBody>
      </p:sp>
      <p:sp>
        <p:nvSpPr>
          <p:cNvPr id="8" name="Text 5"/>
          <p:cNvSpPr/>
          <p:nvPr/>
        </p:nvSpPr>
        <p:spPr>
          <a:xfrm>
            <a:off x="7823200" y="3340001"/>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below target as reported (2.7 pts before special items)</a:t>
            </a:r>
            <a:endParaRPr lang="en-US" sz="1400" dirty="0"/>
          </a:p>
        </p:txBody>
      </p:sp>
      <p:sp>
        <p:nvSpPr>
          <p:cNvPr id="9" name="Text 6"/>
          <p:cNvSpPr/>
          <p:nvPr/>
        </p:nvSpPr>
        <p:spPr>
          <a:xfrm>
            <a:off x="7823200" y="4056261"/>
            <a:ext cx="366268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02733"/>
                </a:solidFill>
                <a:latin typeface="Inter" pitchFamily="34" charset="0"/>
                <a:ea typeface="Inter" pitchFamily="34" charset="-122"/>
                <a:cs typeface="Inter" pitchFamily="34" charset="-120"/>
              </a:rPr>
              <a:t>3.5×</a:t>
            </a:r>
            <a:endParaRPr lang="en-US" sz="2800" dirty="0"/>
          </a:p>
        </p:txBody>
      </p:sp>
      <p:sp>
        <p:nvSpPr>
          <p:cNvPr id="10" name="Text 7"/>
          <p:cNvSpPr/>
          <p:nvPr/>
        </p:nvSpPr>
        <p:spPr>
          <a:xfrm>
            <a:off x="7823200" y="4462661"/>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Škoda's margin versus VW Passenger Cars</a:t>
            </a:r>
            <a:endParaRPr lang="en-US" sz="14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Source: VW press release no. 68/2026 (24 Jul 2026); 6.5% target from VW newsroom, 2023</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WHY · Chinese imports</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Chinese EV imports dipped 20% after the duties, then reached 36% above their old level</a:t>
            </a:r>
            <a:endParaRPr lang="en-US" sz="2800" dirty="0"/>
          </a:p>
        </p:txBody>
      </p:sp>
      <p:sp>
        <p:nvSpPr>
          <p:cNvPr id="4" name="Shape 2"/>
          <p:cNvSpPr/>
          <p:nvPr/>
        </p:nvSpPr>
        <p:spPr>
          <a:xfrm>
            <a:off x="812800" y="2163961"/>
            <a:ext cx="6604000" cy="3600450"/>
          </a:xfrm>
          <a:prstGeom prst="rect">
            <a:avLst/>
          </a:prstGeom>
          <a:solidFill>
            <a:srgbClr val="FFFFFF"/>
          </a:solidFill>
          <a:ln/>
        </p:spPr>
      </p:sp>
      <p:pic>
        <p:nvPicPr>
          <p:cNvPr id="5" name="Image 0" descr="Line chart of monthly Chinese electric car imports into the EU, with the October 2024 duty date marked">    </p:cNvPr>
          <p:cNvPicPr>
            <a:picLocks noChangeAspect="1"/>
          </p:cNvPicPr>
          <p:nvPr/>
        </p:nvPicPr>
        <p:blipFill>
          <a:blip r:embed="rId1"/>
          <a:srcRect l="-105" r="-105" t="0" b="0"/>
          <a:stretch/>
        </p:blipFill>
        <p:spPr>
          <a:xfrm>
            <a:off x="819150" y="2170311"/>
            <a:ext cx="6591300" cy="3587750"/>
          </a:xfrm>
          <a:prstGeom prst="rect">
            <a:avLst/>
          </a:prstGeom>
        </p:spPr>
      </p:pic>
      <p:sp>
        <p:nvSpPr>
          <p:cNvPr id="6" name="Shape 3"/>
          <p:cNvSpPr/>
          <p:nvPr/>
        </p:nvSpPr>
        <p:spPr>
          <a:xfrm>
            <a:off x="815975" y="2167136"/>
            <a:ext cx="6597650" cy="3594100"/>
          </a:xfrm>
          <a:prstGeom prst="rect">
            <a:avLst/>
          </a:prstGeom>
          <a:noFill/>
          <a:ln w="6350">
            <a:solidFill>
              <a:srgbClr val="D3DEDD"/>
            </a:solidFill>
            <a:prstDash val="solid"/>
          </a:ln>
        </p:spPr>
      </p:sp>
      <p:sp>
        <p:nvSpPr>
          <p:cNvPr id="7" name="Text 4"/>
          <p:cNvSpPr/>
          <p:nvPr/>
        </p:nvSpPr>
        <p:spPr>
          <a:xfrm>
            <a:off x="7823200" y="2805956"/>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08C82"/>
                </a:solidFill>
                <a:latin typeface="Inter" pitchFamily="34" charset="0"/>
                <a:ea typeface="Inter" pitchFamily="34" charset="-122"/>
                <a:cs typeface="Inter" pitchFamily="34" charset="-120"/>
              </a:rPr>
              <a:t>+36%</a:t>
            </a:r>
            <a:endParaRPr lang="en-US" sz="6000" dirty="0"/>
          </a:p>
        </p:txBody>
      </p:sp>
      <p:sp>
        <p:nvSpPr>
          <p:cNvPr id="8" name="Text 5"/>
          <p:cNvSpPr/>
          <p:nvPr/>
        </p:nvSpPr>
        <p:spPr>
          <a:xfrm>
            <a:off x="7823200" y="3618756"/>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2026 imports versus the 12 months before the duties</a:t>
            </a:r>
            <a:endParaRPr lang="en-US" sz="1400" dirty="0"/>
          </a:p>
        </p:txBody>
      </p:sp>
      <p:sp>
        <p:nvSpPr>
          <p:cNvPr id="9" name="Text 6"/>
          <p:cNvSpPr/>
          <p:nvPr/>
        </p:nvSpPr>
        <p:spPr>
          <a:xfrm>
            <a:off x="7823200" y="4335016"/>
            <a:ext cx="36626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35,648 → 28,518 → 48,395</a:t>
            </a:r>
            <a:endParaRPr lang="en-US" sz="1800" dirty="0"/>
          </a:p>
        </p:txBody>
      </p:sp>
      <p:sp>
        <p:nvSpPr>
          <p:cNvPr id="10" name="Text 7"/>
          <p:cNvSpPr/>
          <p:nvPr/>
        </p:nvSpPr>
        <p:spPr>
          <a:xfrm>
            <a:off x="7823200" y="4660106"/>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cars a month: before, after the duties, 2026</a:t>
            </a:r>
            <a:endParaRPr lang="en-US" sz="14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Source: Eurostat Comext DS-045409, CN8 87038010 and 87038090, EU member states; duties from 30 Oct 2024</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WHY · Price</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Even with duties, the average Chinese import lands near VW's entry price</a:t>
            </a:r>
            <a:endParaRPr lang="en-US" sz="2800" dirty="0"/>
          </a:p>
        </p:txBody>
      </p:sp>
      <p:sp>
        <p:nvSpPr>
          <p:cNvPr id="4" name="Shape 2"/>
          <p:cNvSpPr/>
          <p:nvPr/>
        </p:nvSpPr>
        <p:spPr>
          <a:xfrm>
            <a:off x="812800" y="2163961"/>
            <a:ext cx="6604000" cy="3600450"/>
          </a:xfrm>
          <a:prstGeom prst="rect">
            <a:avLst/>
          </a:prstGeom>
          <a:solidFill>
            <a:srgbClr val="FFFFFF"/>
          </a:solidFill>
          <a:ln/>
        </p:spPr>
      </p:sp>
      <p:pic>
        <p:nvPicPr>
          <p:cNvPr id="5" name="Image 0" descr="Line chart of average customs value per imported Chinese car, with duties added, against VW and BYD entry prices excluding VAT">    </p:cNvPr>
          <p:cNvPicPr>
            <a:picLocks noChangeAspect="1"/>
          </p:cNvPicPr>
          <p:nvPr/>
        </p:nvPicPr>
        <p:blipFill>
          <a:blip r:embed="rId1"/>
          <a:srcRect l="-105" r="-105" t="0" b="0"/>
          <a:stretch/>
        </p:blipFill>
        <p:spPr>
          <a:xfrm>
            <a:off x="819150" y="2170311"/>
            <a:ext cx="6591300" cy="3587750"/>
          </a:xfrm>
          <a:prstGeom prst="rect">
            <a:avLst/>
          </a:prstGeom>
        </p:spPr>
      </p:pic>
      <p:sp>
        <p:nvSpPr>
          <p:cNvPr id="6" name="Shape 3"/>
          <p:cNvSpPr/>
          <p:nvPr/>
        </p:nvSpPr>
        <p:spPr>
          <a:xfrm>
            <a:off x="815975" y="2167136"/>
            <a:ext cx="6597650" cy="3594100"/>
          </a:xfrm>
          <a:prstGeom prst="rect">
            <a:avLst/>
          </a:prstGeom>
          <a:noFill/>
          <a:ln w="6350">
            <a:solidFill>
              <a:srgbClr val="D3DEDD"/>
            </a:solidFill>
            <a:prstDash val="solid"/>
          </a:ln>
        </p:spPr>
      </p:sp>
      <p:sp>
        <p:nvSpPr>
          <p:cNvPr id="7" name="Text 4"/>
          <p:cNvSpPr/>
          <p:nvPr/>
        </p:nvSpPr>
        <p:spPr>
          <a:xfrm>
            <a:off x="7823200" y="2968526"/>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08C82"/>
                </a:solidFill>
                <a:latin typeface="Inter" pitchFamily="34" charset="0"/>
                <a:ea typeface="Inter" pitchFamily="34" charset="-122"/>
                <a:cs typeface="Inter" pitchFamily="34" charset="-120"/>
              </a:rPr>
              <a:t>€19,695</a:t>
            </a:r>
            <a:endParaRPr lang="en-US" sz="6000" dirty="0"/>
          </a:p>
        </p:txBody>
      </p:sp>
      <p:sp>
        <p:nvSpPr>
          <p:cNvPr id="8" name="Text 5"/>
          <p:cNvSpPr/>
          <p:nvPr/>
        </p:nvSpPr>
        <p:spPr>
          <a:xfrm>
            <a:off x="7823200" y="3781326"/>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latest 3-month import value with 27% duties added</a:t>
            </a:r>
            <a:endParaRPr lang="en-US" sz="1400" dirty="0"/>
          </a:p>
        </p:txBody>
      </p:sp>
      <p:sp>
        <p:nvSpPr>
          <p:cNvPr id="9" name="Text 6"/>
          <p:cNvSpPr/>
          <p:nvPr/>
        </p:nvSpPr>
        <p:spPr>
          <a:xfrm>
            <a:off x="7823200" y="4446786"/>
            <a:ext cx="36626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€21,004</a:t>
            </a:r>
            <a:r>
              <a:rPr lang="en-US" sz="1400" dirty="0">
                <a:solidFill>
                  <a:srgbClr val="002733"/>
                </a:solidFill>
                <a:latin typeface="Inter" pitchFamily="34" charset="0"/>
                <a:ea typeface="Inter" pitchFamily="34" charset="-122"/>
                <a:cs typeface="Inter" pitchFamily="34" charset="-120"/>
              </a:rPr>
              <a:t> VW ID. Polo Trend, ex-VAT</a:t>
            </a:r>
            <a:endParaRPr lang="en-US" sz="1400" dirty="0"/>
          </a:p>
        </p:txBody>
      </p:sp>
      <p:sp>
        <p:nvSpPr>
          <p:cNvPr id="10" name="Text 7"/>
          <p:cNvSpPr/>
          <p:nvPr/>
        </p:nvSpPr>
        <p:spPr>
          <a:xfrm>
            <a:off x="7823200" y="4728716"/>
            <a:ext cx="42672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€19,739</a:t>
            </a:r>
            <a:r>
              <a:rPr lang="en-US" sz="1400" dirty="0">
                <a:solidFill>
                  <a:srgbClr val="002733"/>
                </a:solidFill>
                <a:latin typeface="Inter" pitchFamily="34" charset="0"/>
                <a:ea typeface="Inter" pitchFamily="34" charset="-122"/>
                <a:cs typeface="Inter" pitchFamily="34" charset="-120"/>
              </a:rPr>
              <a:t> BYD Dolphin Surf Active, ex-VAT</a:t>
            </a:r>
            <a:endParaRPr lang="en-US" sz="1400" dirty="0"/>
          </a:p>
        </p:txBody>
      </p:sp>
      <p:sp>
        <p:nvSpPr>
          <p:cNvPr id="11"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Source: Eurostat Comext; VW and BYD websites. 27% is BYD's rate; value excludes shipping and dealer margin</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733"/>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0" y="0"/>
            <a:ext cx="1524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7C9C4"/>
                </a:solidFill>
                <a:latin typeface="Inter" pitchFamily="34" charset="0"/>
                <a:ea typeface="Inter" pitchFamily="34" charset="-122"/>
                <a:cs typeface="Inter" pitchFamily="34" charset="-120"/>
              </a:rPr>
              <a:t>WHAT · The Big Idea</a:t>
            </a:r>
            <a:endParaRPr lang="en-US" sz="1200" dirty="0"/>
          </a:p>
        </p:txBody>
      </p:sp>
      <p:sp>
        <p:nvSpPr>
          <p:cNvPr id="4" name="Text 1"/>
          <p:cNvSpPr/>
          <p:nvPr>
            <p:ph type="title"/>
          </p:nvPr>
        </p:nvSpPr>
        <p:spPr>
          <a:xfrm>
            <a:off x="812800" y="2343200"/>
            <a:ext cx="10883392" cy="1976041"/>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F4F7F7"/>
                </a:solidFill>
                <a:latin typeface="Inter" pitchFamily="34" charset="0"/>
                <a:ea typeface="Inter" pitchFamily="34" charset="-122"/>
                <a:cs typeface="Inter" pitchFamily="34" charset="-120"/>
              </a:rPr>
              <a:t>Announced savings are not closing VW's margin gap while Chinese imports return, so VW must cut entry-segment unit cost through shared platforms and external battery and software partners.</a:t>
            </a:r>
            <a:endParaRPr lang="en-US" sz="3200" dirty="0"/>
          </a:p>
        </p:txBody>
      </p:sp>
      <p:sp>
        <p:nvSpPr>
          <p:cNvPr id="5" name="Text 2"/>
          <p:cNvSpPr/>
          <p:nvPr/>
        </p:nvSpPr>
        <p:spPr>
          <a:xfrm>
            <a:off x="812800" y="5610870"/>
            <a:ext cx="1088339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87C9C4"/>
                </a:solidFill>
                <a:latin typeface="Inter" pitchFamily="34" charset="0"/>
                <a:ea typeface="Inter" pitchFamily="34" charset="-122"/>
                <a:cs typeface="Inter" pitchFamily="34" charset="-120"/>
              </a:rPr>
              <a:t>One program, one target: lower cost per entry car, where Chinese imports compete on price.</a:t>
            </a:r>
            <a:endParaRPr lang="en-US" sz="1400" dirty="0"/>
          </a:p>
        </p:txBody>
      </p:sp>
      <p:sp>
        <p:nvSpPr>
          <p:cNvPr id="6"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7C9C4"/>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WHAT · The options</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Two options: continue as announced or add a unit-cost program</a:t>
            </a:r>
            <a:endParaRPr lang="en-US" sz="2800" dirty="0"/>
          </a:p>
        </p:txBody>
      </p:sp>
      <p:sp>
        <p:nvSpPr>
          <p:cNvPr id="4" name="Text 2"/>
          <p:cNvSpPr/>
          <p:nvPr/>
        </p:nvSpPr>
        <p:spPr>
          <a:xfrm>
            <a:off x="812800" y="2163961"/>
            <a:ext cx="2159000" cy="535930"/>
          </a:xfrm>
          <a:prstGeom prst="rect">
            <a:avLst/>
          </a:prstGeom>
          <a:solidFill>
            <a:srgbClr val="002733"/>
          </a:solidFill>
          <a:ln/>
        </p:spPr>
        <p:txBody>
          <a:bodyPr wrap="square" lIns="127000" tIns="152400" rIns="69850" bIns="127000" rtlCol="0" anchor="t">
            <a:normAutofit/>
          </a:bodyPr>
          <a:lstStyle/>
          <a:p>
            <a:pPr algn="l" indent="0" marL="0">
              <a:lnSpc>
                <a:spcPts val="1820"/>
              </a:lnSpc>
              <a:buNone/>
            </a:pPr>
            <a:r>
              <a:rPr lang="en-US" sz="1400" b="1" dirty="0">
                <a:solidFill>
                  <a:srgbClr val="FFFFFF"/>
                </a:solidFill>
                <a:latin typeface="Inter" pitchFamily="34" charset="0"/>
                <a:ea typeface="Inter" pitchFamily="34" charset="-122"/>
                <a:cs typeface="Inter" pitchFamily="34" charset="-120"/>
              </a:rPr>
              <a:t>What the board asks</a:t>
            </a:r>
            <a:endParaRPr lang="en-US" sz="1400" dirty="0"/>
          </a:p>
        </p:txBody>
      </p:sp>
      <p:sp>
        <p:nvSpPr>
          <p:cNvPr id="5" name="Text 3"/>
          <p:cNvSpPr/>
          <p:nvPr/>
        </p:nvSpPr>
        <p:spPr>
          <a:xfrm>
            <a:off x="2997200" y="2163961"/>
            <a:ext cx="4178300" cy="535930"/>
          </a:xfrm>
          <a:prstGeom prst="rect">
            <a:avLst/>
          </a:prstGeom>
          <a:solidFill>
            <a:srgbClr val="002733"/>
          </a:solidFill>
          <a:ln/>
        </p:spPr>
        <p:txBody>
          <a:bodyPr wrap="square" lIns="127000" tIns="152400" rIns="9271" bIns="127000" rtlCol="0" anchor="t">
            <a:normAutofit/>
          </a:bodyPr>
          <a:lstStyle/>
          <a:p>
            <a:pPr algn="l" indent="0" marL="0">
              <a:lnSpc>
                <a:spcPts val="1820"/>
              </a:lnSpc>
              <a:buNone/>
            </a:pPr>
            <a:r>
              <a:rPr lang="en-US" sz="1400" b="1" dirty="0">
                <a:solidFill>
                  <a:srgbClr val="FFFFFF"/>
                </a:solidFill>
                <a:latin typeface="Inter" pitchFamily="34" charset="0"/>
                <a:ea typeface="Inter" pitchFamily="34" charset="-122"/>
                <a:cs typeface="Inter" pitchFamily="34" charset="-120"/>
              </a:rPr>
              <a:t>Option A: Continue as announced</a:t>
            </a:r>
            <a:endParaRPr lang="en-US" sz="1400" dirty="0"/>
          </a:p>
        </p:txBody>
      </p:sp>
      <p:sp>
        <p:nvSpPr>
          <p:cNvPr id="6" name="Text 4"/>
          <p:cNvSpPr/>
          <p:nvPr/>
        </p:nvSpPr>
        <p:spPr>
          <a:xfrm>
            <a:off x="7200900" y="2163961"/>
            <a:ext cx="4178300" cy="535930"/>
          </a:xfrm>
          <a:prstGeom prst="rect">
            <a:avLst/>
          </a:prstGeom>
          <a:solidFill>
            <a:srgbClr val="006B63"/>
          </a:solidFill>
          <a:ln/>
        </p:spPr>
        <p:txBody>
          <a:bodyPr wrap="square" lIns="127000" tIns="152400" rIns="9271" bIns="127000" rtlCol="0" anchor="t">
            <a:normAutofit/>
          </a:bodyPr>
          <a:lstStyle/>
          <a:p>
            <a:pPr algn="l" indent="0" marL="0">
              <a:lnSpc>
                <a:spcPts val="1820"/>
              </a:lnSpc>
              <a:buNone/>
            </a:pPr>
            <a:r>
              <a:rPr lang="en-US" sz="1400" b="1" dirty="0">
                <a:solidFill>
                  <a:srgbClr val="FFFFFF"/>
                </a:solidFill>
                <a:latin typeface="Inter" pitchFamily="34" charset="0"/>
                <a:ea typeface="Inter" pitchFamily="34" charset="-122"/>
                <a:cs typeface="Inter" pitchFamily="34" charset="-120"/>
              </a:rPr>
              <a:t>Option B: Add a unit-cost program</a:t>
            </a:r>
            <a:endParaRPr lang="en-US" sz="1400" dirty="0"/>
          </a:p>
        </p:txBody>
      </p:sp>
      <p:sp>
        <p:nvSpPr>
          <p:cNvPr id="7" name="Text 5"/>
          <p:cNvSpPr/>
          <p:nvPr/>
        </p:nvSpPr>
        <p:spPr>
          <a:xfrm>
            <a:off x="812800" y="2725291"/>
            <a:ext cx="2159000" cy="716260"/>
          </a:xfrm>
          <a:prstGeom prst="rect">
            <a:avLst/>
          </a:prstGeom>
          <a:solidFill>
            <a:srgbClr val="87C9C4"/>
          </a:solidFill>
          <a:ln/>
        </p:spPr>
        <p:txBody>
          <a:bodyPr wrap="square" lIns="127000" tIns="127000" rIns="69850" bIns="1270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Margin impact</a:t>
            </a:r>
            <a:endParaRPr lang="en-US" sz="1400" dirty="0"/>
          </a:p>
        </p:txBody>
      </p:sp>
      <p:sp>
        <p:nvSpPr>
          <p:cNvPr id="8" name="Text 6"/>
          <p:cNvSpPr/>
          <p:nvPr/>
        </p:nvSpPr>
        <p:spPr>
          <a:xfrm>
            <a:off x="2997200" y="2725291"/>
            <a:ext cx="4178300" cy="716260"/>
          </a:xfrm>
          <a:prstGeom prst="rect">
            <a:avLst/>
          </a:prstGeom>
          <a:solidFill>
            <a:srgbClr val="FFFFFF"/>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About €18B a year reported saved, yet 2.4% margin</a:t>
            </a:r>
            <a:endParaRPr lang="en-US" sz="1400" dirty="0"/>
          </a:p>
        </p:txBody>
      </p:sp>
      <p:sp>
        <p:nvSpPr>
          <p:cNvPr id="9" name="Text 7"/>
          <p:cNvSpPr/>
          <p:nvPr/>
        </p:nvSpPr>
        <p:spPr>
          <a:xfrm>
            <a:off x="7200900" y="2725291"/>
            <a:ext cx="4178300" cy="716260"/>
          </a:xfrm>
          <a:prstGeom prst="rect">
            <a:avLst/>
          </a:prstGeom>
          <a:solidFill>
            <a:srgbClr val="E4F1F0"/>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Est. €490–2,090 per entry car: 0.2–1.2 margin points, 4–29% of the gap</a:t>
            </a:r>
            <a:endParaRPr lang="en-US" sz="1400" dirty="0"/>
          </a:p>
        </p:txBody>
      </p:sp>
      <p:sp>
        <p:nvSpPr>
          <p:cNvPr id="10" name="Text 8"/>
          <p:cNvSpPr/>
          <p:nvPr/>
        </p:nvSpPr>
        <p:spPr>
          <a:xfrm>
            <a:off x="812800" y="3466951"/>
            <a:ext cx="2159000" cy="716260"/>
          </a:xfrm>
          <a:prstGeom prst="rect">
            <a:avLst/>
          </a:prstGeom>
          <a:solidFill>
            <a:srgbClr val="87C9C4"/>
          </a:solidFill>
          <a:ln/>
        </p:spPr>
        <p:txBody>
          <a:bodyPr wrap="square" lIns="127000" tIns="127000" rIns="69850" bIns="1270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Capital need</a:t>
            </a:r>
            <a:endParaRPr lang="en-US" sz="1400" dirty="0"/>
          </a:p>
        </p:txBody>
      </p:sp>
      <p:sp>
        <p:nvSpPr>
          <p:cNvPr id="11" name="Text 9"/>
          <p:cNvSpPr/>
          <p:nvPr/>
        </p:nvSpPr>
        <p:spPr>
          <a:xfrm>
            <a:off x="2997200" y="3466951"/>
            <a:ext cx="4178300" cy="716260"/>
          </a:xfrm>
          <a:prstGeom prst="rect">
            <a:avLst/>
          </a:prstGeom>
          <a:solidFill>
            <a:srgbClr val="FFFFFF"/>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Committed: up to USD 5.8B for Rivian by 2028; R&amp;D €19.4B a year</a:t>
            </a:r>
            <a:endParaRPr lang="en-US" sz="1400" dirty="0"/>
          </a:p>
        </p:txBody>
      </p:sp>
      <p:sp>
        <p:nvSpPr>
          <p:cNvPr id="12" name="Text 10"/>
          <p:cNvSpPr/>
          <p:nvPr/>
        </p:nvSpPr>
        <p:spPr>
          <a:xfrm>
            <a:off x="7200900" y="3466951"/>
            <a:ext cx="4178300" cy="716260"/>
          </a:xfrm>
          <a:prstGeom prst="rect">
            <a:avLst/>
          </a:prstGeom>
          <a:solidFill>
            <a:srgbClr val="E4F1F0"/>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Payback ceiling €0.6–4.2B by 2030; actual spend to size in phase 1</a:t>
            </a:r>
            <a:endParaRPr lang="en-US" sz="1400" dirty="0"/>
          </a:p>
        </p:txBody>
      </p:sp>
      <p:sp>
        <p:nvSpPr>
          <p:cNvPr id="13" name="Text 11"/>
          <p:cNvSpPr/>
          <p:nvPr/>
        </p:nvSpPr>
        <p:spPr>
          <a:xfrm>
            <a:off x="812800" y="4208611"/>
            <a:ext cx="2159000" cy="716260"/>
          </a:xfrm>
          <a:prstGeom prst="rect">
            <a:avLst/>
          </a:prstGeom>
          <a:solidFill>
            <a:srgbClr val="87C9C4"/>
          </a:solidFill>
          <a:ln/>
        </p:spPr>
        <p:txBody>
          <a:bodyPr wrap="square" lIns="127000" tIns="127000" rIns="69850" bIns="1270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Union feasibility</a:t>
            </a:r>
            <a:endParaRPr lang="en-US" sz="1400" dirty="0"/>
          </a:p>
        </p:txBody>
      </p:sp>
      <p:sp>
        <p:nvSpPr>
          <p:cNvPr id="14" name="Text 12"/>
          <p:cNvSpPr/>
          <p:nvPr/>
        </p:nvSpPr>
        <p:spPr>
          <a:xfrm>
            <a:off x="2997200" y="4208611"/>
            <a:ext cx="4178300" cy="716260"/>
          </a:xfrm>
          <a:prstGeom prst="rect">
            <a:avLst/>
          </a:prstGeom>
          <a:solidFill>
            <a:srgbClr val="FFFFFF"/>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Labour savings of €1.5B a year by 2030 already reported</a:t>
            </a:r>
            <a:endParaRPr lang="en-US" sz="1400" dirty="0"/>
          </a:p>
        </p:txBody>
      </p:sp>
      <p:sp>
        <p:nvSpPr>
          <p:cNvPr id="15" name="Text 13"/>
          <p:cNvSpPr/>
          <p:nvPr/>
        </p:nvSpPr>
        <p:spPr>
          <a:xfrm>
            <a:off x="7200900" y="4208611"/>
            <a:ext cx="4178300" cy="716260"/>
          </a:xfrm>
          <a:prstGeom prst="rect">
            <a:avLst/>
          </a:prstGeom>
          <a:solidFill>
            <a:srgbClr val="E4F1F0"/>
          </a:solidFill>
          <a:ln/>
        </p:spPr>
        <p:txBody>
          <a:bodyPr wrap="square" lIns="127000" tIns="127000" rIns="9271" bIns="1270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Needs Works Council and IG Metall alignment</a:t>
            </a:r>
            <a:endParaRPr lang="en-US" sz="1400" dirty="0"/>
          </a:p>
        </p:txBody>
      </p:sp>
      <p:sp>
        <p:nvSpPr>
          <p:cNvPr id="16" name="Text 14"/>
          <p:cNvSpPr/>
          <p:nvPr/>
        </p:nvSpPr>
        <p:spPr>
          <a:xfrm>
            <a:off x="812800" y="4950271"/>
            <a:ext cx="2159000" cy="485130"/>
          </a:xfrm>
          <a:prstGeom prst="rect">
            <a:avLst/>
          </a:prstGeom>
          <a:solidFill>
            <a:srgbClr val="87C9C4"/>
          </a:solidFill>
          <a:ln/>
        </p:spPr>
        <p:txBody>
          <a:bodyPr wrap="square" lIns="127000" tIns="127000" rIns="69850" bIns="1016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Speed</a:t>
            </a:r>
            <a:endParaRPr lang="en-US" sz="1400" dirty="0"/>
          </a:p>
        </p:txBody>
      </p:sp>
      <p:sp>
        <p:nvSpPr>
          <p:cNvPr id="17" name="Text 15"/>
          <p:cNvSpPr/>
          <p:nvPr/>
        </p:nvSpPr>
        <p:spPr>
          <a:xfrm>
            <a:off x="2997200" y="4950271"/>
            <a:ext cx="4178300" cy="485130"/>
          </a:xfrm>
          <a:prstGeom prst="rect">
            <a:avLst/>
          </a:prstGeom>
          <a:solidFill>
            <a:srgbClr val="FFFFFF"/>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Savings accrue through 2030</a:t>
            </a:r>
            <a:endParaRPr lang="en-US" sz="1400" dirty="0"/>
          </a:p>
        </p:txBody>
      </p:sp>
      <p:sp>
        <p:nvSpPr>
          <p:cNvPr id="18" name="Text 16"/>
          <p:cNvSpPr/>
          <p:nvPr/>
        </p:nvSpPr>
        <p:spPr>
          <a:xfrm>
            <a:off x="7200900" y="4950271"/>
            <a:ext cx="4178300" cy="485130"/>
          </a:xfrm>
          <a:prstGeom prst="rect">
            <a:avLst/>
          </a:prstGeom>
          <a:solidFill>
            <a:srgbClr val="E4F1F0"/>
          </a:solidFill>
          <a:ln/>
        </p:spPr>
        <p:txBody>
          <a:bodyPr wrap="square" lIns="127000" tIns="127000" rIns="9271"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Phased 2026 to 2030, with gates</a:t>
            </a:r>
            <a:endParaRPr lang="en-US" sz="1400" dirty="0"/>
          </a:p>
        </p:txBody>
      </p:sp>
      <p:sp>
        <p:nvSpPr>
          <p:cNvPr id="19"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Source: VW Annual Report 2025; releases 68, 69/2026. Add-program figures: team estimates (notebook 3.5, 3.6)</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WHAT · The evidence</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Announced savings alone do not close the gap: about €18B a year reported, yet the Group margin is 3.8%</a:t>
            </a:r>
            <a:endParaRPr lang="en-US" sz="2800" dirty="0"/>
          </a:p>
        </p:txBody>
      </p:sp>
      <p:sp>
        <p:nvSpPr>
          <p:cNvPr id="4" name="Shape 2"/>
          <p:cNvSpPr/>
          <p:nvPr/>
        </p:nvSpPr>
        <p:spPr>
          <a:xfrm>
            <a:off x="812800" y="2163961"/>
            <a:ext cx="6604000" cy="3124200"/>
          </a:xfrm>
          <a:prstGeom prst="rect">
            <a:avLst/>
          </a:prstGeom>
          <a:solidFill>
            <a:srgbClr val="FFFFFF"/>
          </a:solidFill>
          <a:ln/>
        </p:spPr>
      </p:sp>
      <p:pic>
        <p:nvPicPr>
          <p:cNvPr id="5" name="Image 0" descr="Bar chart of VW's reported savings (€15B in 2024, €18B expected in 2025, €1.5B a year labour savings by 2030, €1B production savings to 2030) next to the Group margin of 3.8%">    </p:cNvPr>
          <p:cNvPicPr>
            <a:picLocks noChangeAspect="1"/>
          </p:cNvPicPr>
          <p:nvPr/>
        </p:nvPicPr>
        <p:blipFill>
          <a:blip r:embed="rId1"/>
          <a:srcRect l="-70" r="-70" t="0" b="0"/>
          <a:stretch/>
        </p:blipFill>
        <p:spPr>
          <a:xfrm>
            <a:off x="819150" y="2170311"/>
            <a:ext cx="6591300" cy="3111500"/>
          </a:xfrm>
          <a:prstGeom prst="rect">
            <a:avLst/>
          </a:prstGeom>
        </p:spPr>
      </p:pic>
      <p:sp>
        <p:nvSpPr>
          <p:cNvPr id="6" name="Shape 3"/>
          <p:cNvSpPr/>
          <p:nvPr/>
        </p:nvSpPr>
        <p:spPr>
          <a:xfrm>
            <a:off x="815975" y="2167136"/>
            <a:ext cx="6597650" cy="3117850"/>
          </a:xfrm>
          <a:prstGeom prst="rect">
            <a:avLst/>
          </a:prstGeom>
          <a:noFill/>
          <a:ln w="6350">
            <a:solidFill>
              <a:srgbClr val="D3DEDD"/>
            </a:solidFill>
            <a:prstDash val="solid"/>
          </a:ln>
        </p:spPr>
      </p:sp>
      <p:sp>
        <p:nvSpPr>
          <p:cNvPr id="7" name="Text 4"/>
          <p:cNvSpPr/>
          <p:nvPr/>
        </p:nvSpPr>
        <p:spPr>
          <a:xfrm>
            <a:off x="7823200" y="2642741"/>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08C82"/>
                </a:solidFill>
                <a:latin typeface="Inter" pitchFamily="34" charset="0"/>
                <a:ea typeface="Inter" pitchFamily="34" charset="-122"/>
                <a:cs typeface="Inter" pitchFamily="34" charset="-120"/>
              </a:rPr>
              <a:t>€18B</a:t>
            </a:r>
            <a:endParaRPr lang="en-US" sz="6000" dirty="0"/>
          </a:p>
        </p:txBody>
      </p:sp>
      <p:sp>
        <p:nvSpPr>
          <p:cNvPr id="8" name="Text 5"/>
          <p:cNvSpPr/>
          <p:nvPr/>
        </p:nvSpPr>
        <p:spPr>
          <a:xfrm>
            <a:off x="7823200" y="3455541"/>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a year saved in 2025 (expected), per press reports</a:t>
            </a:r>
            <a:endParaRPr lang="en-US" sz="1400" dirty="0"/>
          </a:p>
        </p:txBody>
      </p:sp>
      <p:sp>
        <p:nvSpPr>
          <p:cNvPr id="9" name="Text 6"/>
          <p:cNvSpPr/>
          <p:nvPr/>
        </p:nvSpPr>
        <p:spPr>
          <a:xfrm>
            <a:off x="7823200" y="4171801"/>
            <a:ext cx="366268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02733"/>
                </a:solidFill>
                <a:latin typeface="Inter" pitchFamily="34" charset="0"/>
                <a:ea typeface="Inter" pitchFamily="34" charset="-122"/>
                <a:cs typeface="Inter" pitchFamily="34" charset="-120"/>
              </a:rPr>
              <a:t>3.8%</a:t>
            </a:r>
            <a:endParaRPr lang="en-US" sz="2800" dirty="0"/>
          </a:p>
        </p:txBody>
      </p:sp>
      <p:sp>
        <p:nvSpPr>
          <p:cNvPr id="10" name="Text 7"/>
          <p:cNvSpPr/>
          <p:nvPr/>
        </p:nvSpPr>
        <p:spPr>
          <a:xfrm>
            <a:off x="7823200" y="4578201"/>
            <a:ext cx="36626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Group operating margin, H1 2026</a:t>
            </a:r>
            <a:endParaRPr lang="en-US" sz="1400" dirty="0"/>
          </a:p>
        </p:txBody>
      </p:sp>
      <p:sp>
        <p:nvSpPr>
          <p:cNvPr id="11"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Source: electrive 17 Feb and 18 May 2026 (press); VW releases 68/2026, 69/2026. Bases differ; figures are not additive</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HOW · The levers</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Four levers can take cost out of every entry car</a:t>
            </a:r>
            <a:endParaRPr lang="en-US" sz="2800" dirty="0"/>
          </a:p>
        </p:txBody>
      </p:sp>
      <p:sp>
        <p:nvSpPr>
          <p:cNvPr id="4" name="Text 2"/>
          <p:cNvSpPr/>
          <p:nvPr/>
        </p:nvSpPr>
        <p:spPr>
          <a:xfrm>
            <a:off x="812800" y="1772841"/>
            <a:ext cx="2286000" cy="535930"/>
          </a:xfrm>
          <a:prstGeom prst="rect">
            <a:avLst/>
          </a:prstGeom>
          <a:solidFill>
            <a:srgbClr val="002733"/>
          </a:solidFill>
          <a:ln/>
        </p:spPr>
        <p:txBody>
          <a:bodyPr wrap="square" lIns="127000" tIns="152400" rIns="66040" bIns="127000" rtlCol="0" anchor="t">
            <a:normAutofit/>
          </a:bodyPr>
          <a:lstStyle/>
          <a:p>
            <a:pPr algn="l" indent="0" marL="0">
              <a:lnSpc>
                <a:spcPts val="1820"/>
              </a:lnSpc>
              <a:buNone/>
            </a:pPr>
            <a:r>
              <a:rPr lang="en-US" sz="1400" b="1" dirty="0">
                <a:solidFill>
                  <a:srgbClr val="FFFFFF"/>
                </a:solidFill>
                <a:latin typeface="Inter" pitchFamily="34" charset="0"/>
                <a:ea typeface="Inter" pitchFamily="34" charset="-122"/>
                <a:cs typeface="Inter" pitchFamily="34" charset="-120"/>
              </a:rPr>
              <a:t>Lever</a:t>
            </a:r>
            <a:endParaRPr lang="en-US" sz="1400" dirty="0"/>
          </a:p>
        </p:txBody>
      </p:sp>
      <p:sp>
        <p:nvSpPr>
          <p:cNvPr id="5" name="Text 3"/>
          <p:cNvSpPr/>
          <p:nvPr/>
        </p:nvSpPr>
        <p:spPr>
          <a:xfrm>
            <a:off x="3124200" y="1772841"/>
            <a:ext cx="6324600" cy="535930"/>
          </a:xfrm>
          <a:prstGeom prst="rect">
            <a:avLst/>
          </a:prstGeom>
          <a:solidFill>
            <a:srgbClr val="002733"/>
          </a:solidFill>
          <a:ln/>
        </p:spPr>
        <p:txBody>
          <a:bodyPr wrap="square" lIns="127000" tIns="152400" rIns="0" bIns="127000" rtlCol="0" anchor="t">
            <a:normAutofit/>
          </a:bodyPr>
          <a:lstStyle/>
          <a:p>
            <a:pPr algn="l" indent="0" marL="0">
              <a:lnSpc>
                <a:spcPts val="1820"/>
              </a:lnSpc>
              <a:buNone/>
            </a:pPr>
            <a:r>
              <a:rPr lang="en-US" sz="1400" b="1" dirty="0">
                <a:solidFill>
                  <a:srgbClr val="FFFFFF"/>
                </a:solidFill>
                <a:latin typeface="Inter" pitchFamily="34" charset="0"/>
                <a:ea typeface="Inter" pitchFamily="34" charset="-122"/>
                <a:cs typeface="Inter" pitchFamily="34" charset="-120"/>
              </a:rPr>
              <a:t>What public sources show</a:t>
            </a:r>
            <a:endParaRPr lang="en-US" sz="1400" dirty="0"/>
          </a:p>
        </p:txBody>
      </p:sp>
      <p:sp>
        <p:nvSpPr>
          <p:cNvPr id="6" name="Text 4"/>
          <p:cNvSpPr/>
          <p:nvPr/>
        </p:nvSpPr>
        <p:spPr>
          <a:xfrm>
            <a:off x="9474200" y="1772841"/>
            <a:ext cx="1905000" cy="535930"/>
          </a:xfrm>
          <a:prstGeom prst="rect">
            <a:avLst/>
          </a:prstGeom>
          <a:solidFill>
            <a:srgbClr val="006B63"/>
          </a:solidFill>
          <a:ln/>
        </p:spPr>
        <p:txBody>
          <a:bodyPr wrap="square" lIns="127000" tIns="152400" rIns="76200" bIns="127000" rtlCol="0" anchor="t">
            <a:normAutofit/>
          </a:bodyPr>
          <a:lstStyle/>
          <a:p>
            <a:pPr algn="l" indent="0" marL="0">
              <a:lnSpc>
                <a:spcPts val="1820"/>
              </a:lnSpc>
              <a:buNone/>
            </a:pPr>
            <a:r>
              <a:rPr lang="en-US" sz="1400" b="1" dirty="0">
                <a:solidFill>
                  <a:srgbClr val="FFFFFF"/>
                </a:solidFill>
                <a:latin typeface="Inter" pitchFamily="34" charset="0"/>
                <a:ea typeface="Inter" pitchFamily="34" charset="-122"/>
                <a:cs typeface="Inter" pitchFamily="34" charset="-120"/>
              </a:rPr>
              <a:t>Est. € per car</a:t>
            </a:r>
            <a:endParaRPr lang="en-US" sz="1400" dirty="0"/>
          </a:p>
        </p:txBody>
      </p:sp>
      <p:sp>
        <p:nvSpPr>
          <p:cNvPr id="7" name="Text 5"/>
          <p:cNvSpPr/>
          <p:nvPr/>
        </p:nvSpPr>
        <p:spPr>
          <a:xfrm>
            <a:off x="812800" y="2334171"/>
            <a:ext cx="2286000" cy="716260"/>
          </a:xfrm>
          <a:prstGeom prst="rect">
            <a:avLst/>
          </a:prstGeom>
          <a:solidFill>
            <a:srgbClr val="87C9C4"/>
          </a:solidFill>
          <a:ln/>
        </p:spPr>
        <p:txBody>
          <a:bodyPr wrap="square" lIns="127000" tIns="127000" rIns="66040" bIns="1270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1 · Shared platform</a:t>
            </a:r>
            <a:endParaRPr lang="en-US" sz="1400" dirty="0"/>
          </a:p>
        </p:txBody>
      </p:sp>
      <p:sp>
        <p:nvSpPr>
          <p:cNvPr id="8" name="Text 6"/>
          <p:cNvSpPr/>
          <p:nvPr/>
        </p:nvSpPr>
        <p:spPr>
          <a:xfrm>
            <a:off x="3124200" y="2334171"/>
            <a:ext cx="6324600" cy="716260"/>
          </a:xfrm>
          <a:prstGeom prst="rect">
            <a:avLst/>
          </a:prstGeom>
          <a:solidFill>
            <a:srgbClr val="FFFFFF"/>
          </a:solidFill>
          <a:ln/>
        </p:spPr>
        <p:txBody>
          <a:bodyPr wrap="square" lIns="127000" tIns="127000" rIns="0"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Four models, three brands, one platform (MEB+), in production since early 2026</a:t>
            </a:r>
            <a:endParaRPr lang="en-US" sz="1400" dirty="0"/>
          </a:p>
        </p:txBody>
      </p:sp>
      <p:sp>
        <p:nvSpPr>
          <p:cNvPr id="9" name="Text 7"/>
          <p:cNvSpPr/>
          <p:nvPr/>
        </p:nvSpPr>
        <p:spPr>
          <a:xfrm>
            <a:off x="9474200" y="2334171"/>
            <a:ext cx="1905000" cy="716260"/>
          </a:xfrm>
          <a:prstGeom prst="rect">
            <a:avLst/>
          </a:prstGeom>
          <a:solidFill>
            <a:srgbClr val="E4F1F0"/>
          </a:solidFill>
          <a:ln/>
        </p:spPr>
        <p:txBody>
          <a:bodyPr wrap="square" lIns="127000" tIns="127000" rIns="76200" bIns="127000" rtlCol="0" anchor="t">
            <a:normAutofit/>
          </a:bodyPr>
          <a:lstStyle/>
          <a:p>
            <a:pPr algn="l" indent="0" marL="0">
              <a:lnSpc>
                <a:spcPts val="1820"/>
              </a:lnSpc>
              <a:buNone/>
            </a:pPr>
            <a:r>
              <a:rPr lang="en-US" sz="1400" b="1" dirty="0">
                <a:solidFill>
                  <a:srgbClr val="006B63"/>
                </a:solidFill>
                <a:latin typeface="Inter" pitchFamily="34" charset="0"/>
                <a:ea typeface="Inter" pitchFamily="34" charset="-122"/>
                <a:cs typeface="Inter" pitchFamily="34" charset="-120"/>
              </a:rPr>
              <a:t>€84–281</a:t>
            </a:r>
            <a:endParaRPr lang="en-US" sz="1400" dirty="0"/>
          </a:p>
        </p:txBody>
      </p:sp>
      <p:sp>
        <p:nvSpPr>
          <p:cNvPr id="10" name="Text 8"/>
          <p:cNvSpPr/>
          <p:nvPr/>
        </p:nvSpPr>
        <p:spPr>
          <a:xfrm>
            <a:off x="812800" y="3075831"/>
            <a:ext cx="2286000" cy="716260"/>
          </a:xfrm>
          <a:prstGeom prst="rect">
            <a:avLst/>
          </a:prstGeom>
          <a:solidFill>
            <a:srgbClr val="87C9C4"/>
          </a:solidFill>
          <a:ln/>
        </p:spPr>
        <p:txBody>
          <a:bodyPr wrap="square" lIns="127000" tIns="127000" rIns="66040" bIns="1016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2 · External software partner</a:t>
            </a:r>
            <a:endParaRPr lang="en-US" sz="1400" dirty="0"/>
          </a:p>
        </p:txBody>
      </p:sp>
      <p:sp>
        <p:nvSpPr>
          <p:cNvPr id="11" name="Text 9"/>
          <p:cNvSpPr/>
          <p:nvPr/>
        </p:nvSpPr>
        <p:spPr>
          <a:xfrm>
            <a:off x="3124200" y="3075831"/>
            <a:ext cx="6324600" cy="716260"/>
          </a:xfrm>
          <a:prstGeom prst="rect">
            <a:avLst/>
          </a:prstGeom>
          <a:solidFill>
            <a:srgbClr val="FFFFFF"/>
          </a:solidFill>
          <a:ln/>
        </p:spPr>
        <p:txBody>
          <a:bodyPr wrap="square" lIns="127000" tIns="127000" rIns="0"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Up to USD 5.8B planned for the Rivian venture by 2028; CARIAD lost €2.2B in 2025; zonal architecture from 2027</a:t>
            </a:r>
            <a:endParaRPr lang="en-US" sz="1400" dirty="0"/>
          </a:p>
        </p:txBody>
      </p:sp>
      <p:sp>
        <p:nvSpPr>
          <p:cNvPr id="12" name="Text 10"/>
          <p:cNvSpPr/>
          <p:nvPr/>
        </p:nvSpPr>
        <p:spPr>
          <a:xfrm>
            <a:off x="9474200" y="3075831"/>
            <a:ext cx="1905000" cy="716260"/>
          </a:xfrm>
          <a:prstGeom prst="rect">
            <a:avLst/>
          </a:prstGeom>
          <a:solidFill>
            <a:srgbClr val="E4F1F0"/>
          </a:solidFill>
          <a:ln/>
        </p:spPr>
        <p:txBody>
          <a:bodyPr wrap="square" lIns="127000" tIns="127000" rIns="76200" bIns="127000" rtlCol="0" anchor="t">
            <a:normAutofit/>
          </a:bodyPr>
          <a:lstStyle/>
          <a:p>
            <a:pPr algn="l" indent="0" marL="0">
              <a:lnSpc>
                <a:spcPts val="1820"/>
              </a:lnSpc>
              <a:buNone/>
            </a:pPr>
            <a:r>
              <a:rPr lang="en-US" sz="1400" b="1" dirty="0">
                <a:solidFill>
                  <a:srgbClr val="006B63"/>
                </a:solidFill>
                <a:latin typeface="Inter" pitchFamily="34" charset="0"/>
                <a:ea typeface="Inter" pitchFamily="34" charset="-122"/>
                <a:cs typeface="Inter" pitchFamily="34" charset="-120"/>
              </a:rPr>
              <a:t>€49–121</a:t>
            </a:r>
            <a:endParaRPr lang="en-US" sz="1400" dirty="0"/>
          </a:p>
        </p:txBody>
      </p:sp>
      <p:sp>
        <p:nvSpPr>
          <p:cNvPr id="13" name="Text 11"/>
          <p:cNvSpPr/>
          <p:nvPr/>
        </p:nvSpPr>
        <p:spPr>
          <a:xfrm>
            <a:off x="812800" y="3817491"/>
            <a:ext cx="2286000" cy="716260"/>
          </a:xfrm>
          <a:prstGeom prst="rect">
            <a:avLst/>
          </a:prstGeom>
          <a:solidFill>
            <a:srgbClr val="87C9C4"/>
          </a:solidFill>
          <a:ln/>
        </p:spPr>
        <p:txBody>
          <a:bodyPr wrap="square" lIns="127000" tIns="127000" rIns="66040" bIns="1016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3 · Lower-cost battery chemistry</a:t>
            </a:r>
            <a:endParaRPr lang="en-US" sz="1400" dirty="0"/>
          </a:p>
        </p:txBody>
      </p:sp>
      <p:sp>
        <p:nvSpPr>
          <p:cNvPr id="14" name="Text 12"/>
          <p:cNvSpPr/>
          <p:nvPr/>
        </p:nvSpPr>
        <p:spPr>
          <a:xfrm>
            <a:off x="3124200" y="3817491"/>
            <a:ext cx="6324600" cy="716260"/>
          </a:xfrm>
          <a:prstGeom prst="rect">
            <a:avLst/>
          </a:prstGeom>
          <a:solidFill>
            <a:srgbClr val="FFFFFF"/>
          </a:solidFill>
          <a:ln/>
        </p:spPr>
        <p:txBody>
          <a:bodyPr wrap="square" lIns="127000" tIns="127000" rIns="0"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Entry ID. Polo already has a 37 kWh LFP pack; PowerCo unified cell planned for up to 80% of EV models</a:t>
            </a:r>
            <a:endParaRPr lang="en-US" sz="1400" dirty="0"/>
          </a:p>
        </p:txBody>
      </p:sp>
      <p:sp>
        <p:nvSpPr>
          <p:cNvPr id="15" name="Text 13"/>
          <p:cNvSpPr/>
          <p:nvPr/>
        </p:nvSpPr>
        <p:spPr>
          <a:xfrm>
            <a:off x="9474200" y="3817491"/>
            <a:ext cx="1905000" cy="716260"/>
          </a:xfrm>
          <a:prstGeom prst="rect">
            <a:avLst/>
          </a:prstGeom>
          <a:solidFill>
            <a:srgbClr val="E4F1F0"/>
          </a:solidFill>
          <a:ln/>
        </p:spPr>
        <p:txBody>
          <a:bodyPr wrap="square" lIns="127000" tIns="127000" rIns="76200" bIns="127000" rtlCol="0" anchor="t">
            <a:normAutofit/>
          </a:bodyPr>
          <a:lstStyle/>
          <a:p>
            <a:pPr algn="l" indent="0" marL="0">
              <a:lnSpc>
                <a:spcPts val="1820"/>
              </a:lnSpc>
              <a:buNone/>
            </a:pPr>
            <a:r>
              <a:rPr lang="en-US" sz="1400" b="1" dirty="0">
                <a:solidFill>
                  <a:srgbClr val="006B63"/>
                </a:solidFill>
                <a:latin typeface="Inter" pitchFamily="34" charset="0"/>
                <a:ea typeface="Inter" pitchFamily="34" charset="-122"/>
                <a:cs typeface="Inter" pitchFamily="34" charset="-120"/>
              </a:rPr>
              <a:t>€305–1,102</a:t>
            </a:r>
            <a:endParaRPr lang="en-US" sz="1400" dirty="0"/>
          </a:p>
        </p:txBody>
      </p:sp>
      <p:sp>
        <p:nvSpPr>
          <p:cNvPr id="16" name="Text 14"/>
          <p:cNvSpPr/>
          <p:nvPr/>
        </p:nvSpPr>
        <p:spPr>
          <a:xfrm>
            <a:off x="812800" y="4559151"/>
            <a:ext cx="2286000" cy="716260"/>
          </a:xfrm>
          <a:prstGeom prst="rect">
            <a:avLst/>
          </a:prstGeom>
          <a:solidFill>
            <a:srgbClr val="87C9C4"/>
          </a:solidFill>
          <a:ln/>
        </p:spPr>
        <p:txBody>
          <a:bodyPr wrap="square" lIns="127000" tIns="127000" rIns="66040" bIns="1270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4 · Sourcing</a:t>
            </a:r>
            <a:endParaRPr lang="en-US" sz="1400" dirty="0"/>
          </a:p>
        </p:txBody>
      </p:sp>
      <p:sp>
        <p:nvSpPr>
          <p:cNvPr id="17" name="Text 15"/>
          <p:cNvSpPr/>
          <p:nvPr/>
        </p:nvSpPr>
        <p:spPr>
          <a:xfrm>
            <a:off x="3124200" y="4559151"/>
            <a:ext cx="6324600" cy="716260"/>
          </a:xfrm>
          <a:prstGeom prst="rect">
            <a:avLst/>
          </a:prstGeom>
          <a:solidFill>
            <a:srgbClr val="FFFFFF"/>
          </a:solidFill>
          <a:ln/>
        </p:spPr>
        <p:txBody>
          <a:bodyPr wrap="square" lIns="127000" tIns="127000" rIns="0" bIns="101600" rtlCol="0" anchor="t">
            <a:normAutofit/>
          </a:bodyPr>
          <a:lstStyle/>
          <a:p>
            <a:pPr algn="l" indent="0" marL="0">
              <a:lnSpc>
                <a:spcPts val="1820"/>
              </a:lnSpc>
              <a:buNone/>
            </a:pPr>
            <a:r>
              <a:rPr lang="en-US" sz="1400" dirty="0">
                <a:solidFill>
                  <a:srgbClr val="002733"/>
                </a:solidFill>
                <a:latin typeface="Inter" pitchFamily="34" charset="0"/>
                <a:ea typeface="Inter" pitchFamily="34" charset="-122"/>
                <a:cs typeface="Inter" pitchFamily="34" charset="-120"/>
              </a:rPr>
              <a:t>UBS (2023): BYD Seal 25–35% cheaper to build than European rivals; VW's 2025 cost of sales outgrew revenue</a:t>
            </a:r>
            <a:endParaRPr lang="en-US" sz="1400" dirty="0"/>
          </a:p>
        </p:txBody>
      </p:sp>
      <p:sp>
        <p:nvSpPr>
          <p:cNvPr id="18" name="Text 16"/>
          <p:cNvSpPr/>
          <p:nvPr/>
        </p:nvSpPr>
        <p:spPr>
          <a:xfrm>
            <a:off x="9474200" y="4559151"/>
            <a:ext cx="1905000" cy="716260"/>
          </a:xfrm>
          <a:prstGeom prst="rect">
            <a:avLst/>
          </a:prstGeom>
          <a:solidFill>
            <a:srgbClr val="E4F1F0"/>
          </a:solidFill>
          <a:ln/>
        </p:spPr>
        <p:txBody>
          <a:bodyPr wrap="square" lIns="127000" tIns="127000" rIns="76200" bIns="127000" rtlCol="0" anchor="t">
            <a:normAutofit/>
          </a:bodyPr>
          <a:lstStyle/>
          <a:p>
            <a:pPr algn="l" indent="0" marL="0">
              <a:lnSpc>
                <a:spcPts val="1820"/>
              </a:lnSpc>
              <a:buNone/>
            </a:pPr>
            <a:r>
              <a:rPr lang="en-US" sz="1400" b="1" dirty="0">
                <a:solidFill>
                  <a:srgbClr val="006B63"/>
                </a:solidFill>
                <a:latin typeface="Inter" pitchFamily="34" charset="0"/>
                <a:ea typeface="Inter" pitchFamily="34" charset="-122"/>
                <a:cs typeface="Inter" pitchFamily="34" charset="-120"/>
              </a:rPr>
              <a:t>€263–1,103</a:t>
            </a:r>
            <a:endParaRPr lang="en-US" sz="1400" dirty="0"/>
          </a:p>
        </p:txBody>
      </p:sp>
      <p:sp>
        <p:nvSpPr>
          <p:cNvPr id="19"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Sources: VW Annual Report 2025; BNEF 2025; UBS 2023 (press). € per car: team estimates, not published by VW</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HOW · The roadmap</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Three phases deliver the program by 2030, each released at a gate</a:t>
            </a:r>
            <a:endParaRPr lang="en-US" sz="2800" dirty="0"/>
          </a:p>
        </p:txBody>
      </p:sp>
      <p:sp>
        <p:nvSpPr>
          <p:cNvPr id="4" name="Shape 2"/>
          <p:cNvSpPr/>
          <p:nvPr/>
        </p:nvSpPr>
        <p:spPr>
          <a:xfrm>
            <a:off x="812800" y="2163961"/>
            <a:ext cx="3386634" cy="2428131"/>
          </a:xfrm>
          <a:prstGeom prst="rect">
            <a:avLst/>
          </a:prstGeom>
          <a:solidFill>
            <a:srgbClr val="FFFFFF"/>
          </a:solidFill>
          <a:ln/>
        </p:spPr>
      </p:sp>
      <p:sp>
        <p:nvSpPr>
          <p:cNvPr id="5" name="Shape 3"/>
          <p:cNvSpPr/>
          <p:nvPr/>
        </p:nvSpPr>
        <p:spPr>
          <a:xfrm>
            <a:off x="812800" y="2189361"/>
            <a:ext cx="3386634" cy="0"/>
          </a:xfrm>
          <a:prstGeom prst="line">
            <a:avLst/>
          </a:prstGeom>
          <a:noFill/>
          <a:ln w="50800">
            <a:solidFill>
              <a:srgbClr val="87C9C4"/>
            </a:solidFill>
            <a:prstDash val="solid"/>
          </a:ln>
        </p:spPr>
      </p:sp>
      <p:sp>
        <p:nvSpPr>
          <p:cNvPr id="6" name="Text 4"/>
          <p:cNvSpPr/>
          <p:nvPr/>
        </p:nvSpPr>
        <p:spPr>
          <a:xfrm>
            <a:off x="1066800" y="2443361"/>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PHASE 1 · 2026–27</a:t>
            </a:r>
            <a:endParaRPr lang="en-US" sz="1200" dirty="0"/>
          </a:p>
        </p:txBody>
      </p:sp>
      <p:sp>
        <p:nvSpPr>
          <p:cNvPr id="7" name="Text 5"/>
          <p:cNvSpPr/>
          <p:nvPr/>
        </p:nvSpPr>
        <p:spPr>
          <a:xfrm>
            <a:off x="1066800" y="2758281"/>
            <a:ext cx="296499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Size and decide</a:t>
            </a:r>
            <a:endParaRPr lang="en-US" sz="1800" dirty="0"/>
          </a:p>
        </p:txBody>
      </p:sp>
      <p:sp>
        <p:nvSpPr>
          <p:cNvPr id="8" name="Text 6"/>
          <p:cNvSpPr/>
          <p:nvPr/>
        </p:nvSpPr>
        <p:spPr>
          <a:xfrm>
            <a:off x="1151382" y="3134171"/>
            <a:ext cx="2872791" cy="487660"/>
          </a:xfrm>
          <a:prstGeom prst="rect">
            <a:avLst/>
          </a:prstGeom>
          <a:noFill/>
          <a:ln/>
        </p:spPr>
        <p:txBody>
          <a:bodyPr wrap="square" lIns="0" tIns="0" rIns="0" bIns="0" rtlCol="0" anchor="t">
            <a:normAutofit/>
          </a:bodyPr>
          <a:lstStyle/>
          <a:p>
            <a:pPr algn="l" marL="169418" indent="-169418">
              <a:lnSpc>
                <a:spcPts val="1820"/>
              </a:lnSpc>
              <a:buSzPct val="100000"/>
              <a:buChar char="•"/>
            </a:pPr>
            <a:r>
              <a:rPr lang="en-US" sz="1400" dirty="0">
                <a:solidFill>
                  <a:srgbClr val="002733"/>
                </a:solidFill>
                <a:latin typeface="Inter" pitchFamily="34" charset="0"/>
                <a:ea typeface="Inter" pitchFamily="34" charset="-122"/>
                <a:cs typeface="Inter" pitchFamily="34" charset="-120"/>
              </a:rPr>
              <a:t>Size each lever in € per car</a:t>
            </a:r>
            <a:endParaRPr lang="en-US" sz="1400" dirty="0"/>
          </a:p>
          <a:p>
            <a:pPr algn="l" marL="169418" indent="-169418">
              <a:lnSpc>
                <a:spcPts val="1820"/>
              </a:lnSpc>
              <a:buSzPct val="100000"/>
              <a:buChar char="•"/>
            </a:pPr>
            <a:r>
              <a:rPr lang="en-US" sz="1400" dirty="0">
                <a:solidFill>
                  <a:srgbClr val="002733"/>
                </a:solidFill>
                <a:latin typeface="Inter" pitchFamily="34" charset="0"/>
                <a:ea typeface="Inter" pitchFamily="34" charset="-122"/>
                <a:cs typeface="Inter" pitchFamily="34" charset="-120"/>
              </a:rPr>
              <a:t>Select partners</a:t>
            </a:r>
            <a:endParaRPr lang="en-US" sz="1400" dirty="0"/>
          </a:p>
        </p:txBody>
      </p:sp>
      <p:sp>
        <p:nvSpPr>
          <p:cNvPr id="9" name="Text 7"/>
          <p:cNvSpPr/>
          <p:nvPr/>
        </p:nvSpPr>
        <p:spPr>
          <a:xfrm>
            <a:off x="1066800" y="3698032"/>
            <a:ext cx="2878634" cy="665460"/>
          </a:xfrm>
          <a:prstGeom prst="rect">
            <a:avLst/>
          </a:prstGeom>
          <a:solidFill>
            <a:srgbClr val="E4F1F0"/>
          </a:solidFill>
          <a:ln/>
        </p:spPr>
        <p:txBody>
          <a:bodyPr wrap="square" lIns="127000" tIns="101600" rIns="48261" bIns="762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Gate: cost target per car agreed</a:t>
            </a:r>
            <a:endParaRPr lang="en-US" sz="1400" dirty="0"/>
          </a:p>
        </p:txBody>
      </p:sp>
      <p:sp>
        <p:nvSpPr>
          <p:cNvPr id="10" name="Shape 8"/>
          <p:cNvSpPr/>
          <p:nvPr/>
        </p:nvSpPr>
        <p:spPr>
          <a:xfrm>
            <a:off x="4402634" y="2163961"/>
            <a:ext cx="3386683" cy="2428131"/>
          </a:xfrm>
          <a:prstGeom prst="rect">
            <a:avLst/>
          </a:prstGeom>
          <a:solidFill>
            <a:srgbClr val="FFFFFF"/>
          </a:solidFill>
          <a:ln/>
        </p:spPr>
      </p:sp>
      <p:sp>
        <p:nvSpPr>
          <p:cNvPr id="11" name="Shape 9"/>
          <p:cNvSpPr/>
          <p:nvPr/>
        </p:nvSpPr>
        <p:spPr>
          <a:xfrm>
            <a:off x="4402634" y="2189361"/>
            <a:ext cx="3386683" cy="0"/>
          </a:xfrm>
          <a:prstGeom prst="line">
            <a:avLst/>
          </a:prstGeom>
          <a:noFill/>
          <a:ln w="50800">
            <a:solidFill>
              <a:srgbClr val="43AAA3"/>
            </a:solidFill>
            <a:prstDash val="solid"/>
          </a:ln>
        </p:spPr>
      </p:sp>
      <p:sp>
        <p:nvSpPr>
          <p:cNvPr id="12" name="Text 10"/>
          <p:cNvSpPr/>
          <p:nvPr/>
        </p:nvSpPr>
        <p:spPr>
          <a:xfrm>
            <a:off x="4656634" y="2443361"/>
            <a:ext cx="29650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PHASE 2 · 2027–28</a:t>
            </a:r>
            <a:endParaRPr lang="en-US" sz="1200" dirty="0"/>
          </a:p>
        </p:txBody>
      </p:sp>
      <p:sp>
        <p:nvSpPr>
          <p:cNvPr id="13" name="Text 11"/>
          <p:cNvSpPr/>
          <p:nvPr/>
        </p:nvSpPr>
        <p:spPr>
          <a:xfrm>
            <a:off x="4656634" y="2758281"/>
            <a:ext cx="29650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Launch</a:t>
            </a:r>
            <a:endParaRPr lang="en-US" sz="1800" dirty="0"/>
          </a:p>
        </p:txBody>
      </p:sp>
      <p:sp>
        <p:nvSpPr>
          <p:cNvPr id="14" name="Text 12"/>
          <p:cNvSpPr/>
          <p:nvPr/>
        </p:nvSpPr>
        <p:spPr>
          <a:xfrm>
            <a:off x="4741216" y="3134171"/>
            <a:ext cx="2872842" cy="718790"/>
          </a:xfrm>
          <a:prstGeom prst="rect">
            <a:avLst/>
          </a:prstGeom>
          <a:noFill/>
          <a:ln/>
        </p:spPr>
        <p:txBody>
          <a:bodyPr wrap="square" lIns="0" tIns="0" rIns="0" bIns="0" rtlCol="0" anchor="t">
            <a:normAutofit/>
          </a:bodyPr>
          <a:lstStyle/>
          <a:p>
            <a:pPr algn="l" marL="169418" indent="-169418">
              <a:lnSpc>
                <a:spcPts val="1820"/>
              </a:lnSpc>
              <a:buSzPct val="100000"/>
              <a:buChar char="•"/>
            </a:pPr>
            <a:r>
              <a:rPr lang="en-US" sz="1400" dirty="0">
                <a:solidFill>
                  <a:srgbClr val="002733"/>
                </a:solidFill>
                <a:latin typeface="Inter" pitchFamily="34" charset="0"/>
                <a:ea typeface="Inter" pitchFamily="34" charset="-122"/>
                <a:cs typeface="Inter" pitchFamily="34" charset="-120"/>
              </a:rPr>
              <a:t>First entry model on the shared platform</a:t>
            </a:r>
            <a:endParaRPr lang="en-US" sz="1400" dirty="0"/>
          </a:p>
          <a:p>
            <a:pPr algn="l" marL="169418" indent="-169418">
              <a:lnSpc>
                <a:spcPts val="1820"/>
              </a:lnSpc>
              <a:buSzPct val="100000"/>
              <a:buChar char="•"/>
            </a:pPr>
            <a:r>
              <a:rPr lang="en-US" sz="1400" dirty="0">
                <a:solidFill>
                  <a:srgbClr val="002733"/>
                </a:solidFill>
                <a:latin typeface="Inter" pitchFamily="34" charset="0"/>
                <a:ea typeface="Inter" pitchFamily="34" charset="-122"/>
                <a:cs typeface="Inter" pitchFamily="34" charset="-120"/>
              </a:rPr>
              <a:t>Re-tender parts</a:t>
            </a:r>
            <a:endParaRPr lang="en-US" sz="1400" dirty="0"/>
          </a:p>
        </p:txBody>
      </p:sp>
      <p:sp>
        <p:nvSpPr>
          <p:cNvPr id="15" name="Text 13"/>
          <p:cNvSpPr/>
          <p:nvPr/>
        </p:nvSpPr>
        <p:spPr>
          <a:xfrm>
            <a:off x="4656634" y="3929162"/>
            <a:ext cx="2878683" cy="434330"/>
          </a:xfrm>
          <a:prstGeom prst="rect">
            <a:avLst/>
          </a:prstGeom>
          <a:solidFill>
            <a:srgbClr val="E4F1F0"/>
          </a:solidFill>
          <a:ln/>
        </p:spPr>
        <p:txBody>
          <a:bodyPr wrap="square" lIns="127000" tIns="101600" rIns="48260" bIns="762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Gate: cost per car at target</a:t>
            </a:r>
            <a:endParaRPr lang="en-US" sz="1400" dirty="0"/>
          </a:p>
        </p:txBody>
      </p:sp>
      <p:sp>
        <p:nvSpPr>
          <p:cNvPr id="16" name="Shape 14"/>
          <p:cNvSpPr/>
          <p:nvPr/>
        </p:nvSpPr>
        <p:spPr>
          <a:xfrm>
            <a:off x="7992517" y="2163961"/>
            <a:ext cx="3386683" cy="2428131"/>
          </a:xfrm>
          <a:prstGeom prst="rect">
            <a:avLst/>
          </a:prstGeom>
          <a:solidFill>
            <a:srgbClr val="FFFFFF"/>
          </a:solidFill>
          <a:ln/>
        </p:spPr>
      </p:sp>
      <p:sp>
        <p:nvSpPr>
          <p:cNvPr id="17" name="Shape 15"/>
          <p:cNvSpPr/>
          <p:nvPr/>
        </p:nvSpPr>
        <p:spPr>
          <a:xfrm>
            <a:off x="7992517" y="2189361"/>
            <a:ext cx="3386683" cy="0"/>
          </a:xfrm>
          <a:prstGeom prst="line">
            <a:avLst/>
          </a:prstGeom>
          <a:noFill/>
          <a:ln w="50800">
            <a:solidFill>
              <a:srgbClr val="008C82"/>
            </a:solidFill>
            <a:prstDash val="solid"/>
          </a:ln>
        </p:spPr>
      </p:sp>
      <p:sp>
        <p:nvSpPr>
          <p:cNvPr id="18" name="Text 16"/>
          <p:cNvSpPr/>
          <p:nvPr/>
        </p:nvSpPr>
        <p:spPr>
          <a:xfrm>
            <a:off x="8246517" y="2443361"/>
            <a:ext cx="29650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PHASE 3 · 2029–30</a:t>
            </a:r>
            <a:endParaRPr lang="en-US" sz="1200" dirty="0"/>
          </a:p>
        </p:txBody>
      </p:sp>
      <p:sp>
        <p:nvSpPr>
          <p:cNvPr id="19" name="Text 17"/>
          <p:cNvSpPr/>
          <p:nvPr/>
        </p:nvSpPr>
        <p:spPr>
          <a:xfrm>
            <a:off x="8246517" y="2758281"/>
            <a:ext cx="29650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Scale</a:t>
            </a:r>
            <a:endParaRPr lang="en-US" sz="1800" dirty="0"/>
          </a:p>
        </p:txBody>
      </p:sp>
      <p:sp>
        <p:nvSpPr>
          <p:cNvPr id="20" name="Text 18"/>
          <p:cNvSpPr/>
          <p:nvPr/>
        </p:nvSpPr>
        <p:spPr>
          <a:xfrm>
            <a:off x="8331099" y="3134171"/>
            <a:ext cx="2872842" cy="718790"/>
          </a:xfrm>
          <a:prstGeom prst="rect">
            <a:avLst/>
          </a:prstGeom>
          <a:noFill/>
          <a:ln/>
        </p:spPr>
        <p:txBody>
          <a:bodyPr wrap="square" lIns="0" tIns="0" rIns="0" bIns="0" rtlCol="0" anchor="t">
            <a:normAutofit/>
          </a:bodyPr>
          <a:lstStyle/>
          <a:p>
            <a:pPr algn="l" marL="169418" indent="-169418">
              <a:lnSpc>
                <a:spcPts val="1820"/>
              </a:lnSpc>
              <a:buSzPct val="100000"/>
              <a:buChar char="•"/>
            </a:pPr>
            <a:r>
              <a:rPr lang="en-US" sz="1400" dirty="0">
                <a:solidFill>
                  <a:srgbClr val="002733"/>
                </a:solidFill>
                <a:latin typeface="Inter" pitchFamily="34" charset="0"/>
                <a:ea typeface="Inter" pitchFamily="34" charset="-122"/>
                <a:cs typeface="Inter" pitchFamily="34" charset="-120"/>
              </a:rPr>
              <a:t>Roll out across entry models</a:t>
            </a:r>
            <a:endParaRPr lang="en-US" sz="1400" dirty="0"/>
          </a:p>
          <a:p>
            <a:pPr algn="l" marL="169418" indent="-169418">
              <a:lnSpc>
                <a:spcPts val="1820"/>
              </a:lnSpc>
              <a:buSzPct val="100000"/>
              <a:buChar char="•"/>
            </a:pPr>
            <a:r>
              <a:rPr lang="en-US" sz="1400" dirty="0">
                <a:solidFill>
                  <a:srgbClr val="002733"/>
                </a:solidFill>
                <a:latin typeface="Inter" pitchFamily="34" charset="0"/>
                <a:ea typeface="Inter" pitchFamily="34" charset="-122"/>
                <a:cs typeface="Inter" pitchFamily="34" charset="-120"/>
              </a:rPr>
              <a:t>Combine with 2030 labour savings</a:t>
            </a:r>
            <a:endParaRPr lang="en-US" sz="1400" dirty="0"/>
          </a:p>
        </p:txBody>
      </p:sp>
      <p:sp>
        <p:nvSpPr>
          <p:cNvPr id="21" name="Text 19"/>
          <p:cNvSpPr/>
          <p:nvPr/>
        </p:nvSpPr>
        <p:spPr>
          <a:xfrm>
            <a:off x="8246517" y="3929162"/>
            <a:ext cx="2878683" cy="434330"/>
          </a:xfrm>
          <a:prstGeom prst="rect">
            <a:avLst/>
          </a:prstGeom>
          <a:solidFill>
            <a:srgbClr val="E4F1F0"/>
          </a:solidFill>
          <a:ln/>
        </p:spPr>
        <p:txBody>
          <a:bodyPr wrap="square" lIns="127000" tIns="101600" rIns="48260" bIns="7620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Gate: margin on path to 6.5%</a:t>
            </a:r>
            <a:endParaRPr lang="en-US" sz="1400" dirty="0"/>
          </a:p>
        </p:txBody>
      </p:sp>
      <p:sp>
        <p:nvSpPr>
          <p:cNvPr id="22"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Proposed by the team. 2030 labour savings of €1.5B a year as reported by electrive, 18 May 2026</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63"/>
                </a:solidFill>
                <a:latin typeface="Inter" pitchFamily="34" charset="0"/>
                <a:ea typeface="Inter" pitchFamily="34" charset="-122"/>
                <a:cs typeface="Inter" pitchFamily="34" charset="-120"/>
              </a:rPr>
              <a:t>HOW · The people</a:t>
            </a:r>
            <a:endParaRPr lang="en-US" sz="1200" dirty="0"/>
          </a:p>
        </p:txBody>
      </p:sp>
      <p:sp>
        <p:nvSpPr>
          <p:cNvPr id="3" name="Text 1"/>
          <p:cNvSpPr/>
          <p:nvPr>
            <p:ph type="title"/>
          </p:nvPr>
        </p:nvSpPr>
        <p:spPr>
          <a:xfrm>
            <a:off x="812800" y="112772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02733"/>
                </a:solidFill>
                <a:latin typeface="Inter" pitchFamily="34" charset="0"/>
                <a:ea typeface="Inter" pitchFamily="34" charset="-122"/>
                <a:cs typeface="Inter" pitchFamily="34" charset="-120"/>
              </a:rPr>
              <a:t>The program needs the Works Council, IG Metall and partners aligned from day one</a:t>
            </a:r>
            <a:endParaRPr lang="en-US" sz="2800" dirty="0"/>
          </a:p>
        </p:txBody>
      </p:sp>
      <p:sp>
        <p:nvSpPr>
          <p:cNvPr id="4" name="Shape 2"/>
          <p:cNvSpPr/>
          <p:nvPr/>
        </p:nvSpPr>
        <p:spPr>
          <a:xfrm>
            <a:off x="812800" y="2163961"/>
            <a:ext cx="3386634" cy="2184301"/>
          </a:xfrm>
          <a:prstGeom prst="rect">
            <a:avLst/>
          </a:prstGeom>
          <a:solidFill>
            <a:srgbClr val="FFFFFF"/>
          </a:solidFill>
          <a:ln/>
        </p:spPr>
      </p:sp>
      <p:sp>
        <p:nvSpPr>
          <p:cNvPr id="5" name="Shape 3"/>
          <p:cNvSpPr/>
          <p:nvPr/>
        </p:nvSpPr>
        <p:spPr>
          <a:xfrm>
            <a:off x="812800" y="2189361"/>
            <a:ext cx="3386634" cy="0"/>
          </a:xfrm>
          <a:prstGeom prst="line">
            <a:avLst/>
          </a:prstGeom>
          <a:noFill/>
          <a:ln w="50800">
            <a:solidFill>
              <a:srgbClr val="008C82"/>
            </a:solidFill>
            <a:prstDash val="solid"/>
          </a:ln>
        </p:spPr>
      </p:sp>
      <p:sp>
        <p:nvSpPr>
          <p:cNvPr id="6" name="Text 4"/>
          <p:cNvSpPr/>
          <p:nvPr/>
        </p:nvSpPr>
        <p:spPr>
          <a:xfrm>
            <a:off x="1066800" y="2443361"/>
            <a:ext cx="2964993"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Works Council and IG Metall</a:t>
            </a:r>
            <a:endParaRPr lang="en-US" sz="1800" dirty="0"/>
          </a:p>
        </p:txBody>
      </p:sp>
      <p:sp>
        <p:nvSpPr>
          <p:cNvPr id="7" name="Text 5"/>
          <p:cNvSpPr/>
          <p:nvPr/>
        </p:nvSpPr>
        <p:spPr>
          <a:xfrm>
            <a:off x="1066800" y="3093541"/>
            <a:ext cx="31326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Concern:</a:t>
            </a:r>
            <a:r>
              <a:rPr lang="en-US" sz="1400" dirty="0">
                <a:solidFill>
                  <a:srgbClr val="002733"/>
                </a:solidFill>
                <a:latin typeface="Inter" pitchFamily="34" charset="0"/>
                <a:ea typeface="Inter" pitchFamily="34" charset="-122"/>
                <a:cs typeface="Inter" pitchFamily="34" charset="-120"/>
              </a:rPr>
              <a:t> jobs and plant capacity.</a:t>
            </a:r>
            <a:endParaRPr lang="en-US" sz="1400" dirty="0"/>
          </a:p>
        </p:txBody>
      </p:sp>
      <p:sp>
        <p:nvSpPr>
          <p:cNvPr id="8" name="Text 6"/>
          <p:cNvSpPr/>
          <p:nvPr/>
        </p:nvSpPr>
        <p:spPr>
          <a:xfrm>
            <a:off x="1066800" y="3426271"/>
            <a:ext cx="2964993"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Ask:</a:t>
            </a:r>
            <a:r>
              <a:rPr lang="en-US" sz="1400" dirty="0">
                <a:solidFill>
                  <a:srgbClr val="002733"/>
                </a:solidFill>
                <a:latin typeface="Inter" pitchFamily="34" charset="0"/>
                <a:ea typeface="Inter" pitchFamily="34" charset="-122"/>
                <a:cs typeface="Inter" pitchFamily="34" charset="-120"/>
              </a:rPr>
              <a:t> build the program on the labour savings already reported.</a:t>
            </a:r>
            <a:endParaRPr lang="en-US" sz="1400" dirty="0"/>
          </a:p>
        </p:txBody>
      </p:sp>
      <p:sp>
        <p:nvSpPr>
          <p:cNvPr id="9" name="Shape 7"/>
          <p:cNvSpPr/>
          <p:nvPr/>
        </p:nvSpPr>
        <p:spPr>
          <a:xfrm>
            <a:off x="4402634" y="2163961"/>
            <a:ext cx="3386683" cy="2184301"/>
          </a:xfrm>
          <a:prstGeom prst="rect">
            <a:avLst/>
          </a:prstGeom>
          <a:solidFill>
            <a:srgbClr val="FFFFFF"/>
          </a:solidFill>
          <a:ln/>
        </p:spPr>
      </p:sp>
      <p:sp>
        <p:nvSpPr>
          <p:cNvPr id="10" name="Shape 8"/>
          <p:cNvSpPr/>
          <p:nvPr/>
        </p:nvSpPr>
        <p:spPr>
          <a:xfrm>
            <a:off x="4402634" y="2189361"/>
            <a:ext cx="3386683" cy="0"/>
          </a:xfrm>
          <a:prstGeom prst="line">
            <a:avLst/>
          </a:prstGeom>
          <a:noFill/>
          <a:ln w="50800">
            <a:solidFill>
              <a:srgbClr val="008C82"/>
            </a:solidFill>
            <a:prstDash val="solid"/>
          </a:ln>
        </p:spPr>
      </p:sp>
      <p:sp>
        <p:nvSpPr>
          <p:cNvPr id="11" name="Text 9"/>
          <p:cNvSpPr/>
          <p:nvPr/>
        </p:nvSpPr>
        <p:spPr>
          <a:xfrm>
            <a:off x="4656634" y="2443361"/>
            <a:ext cx="2965044"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Battery and software partners</a:t>
            </a:r>
            <a:endParaRPr lang="en-US" sz="1800" dirty="0"/>
          </a:p>
        </p:txBody>
      </p:sp>
      <p:sp>
        <p:nvSpPr>
          <p:cNvPr id="12" name="Text 10"/>
          <p:cNvSpPr/>
          <p:nvPr/>
        </p:nvSpPr>
        <p:spPr>
          <a:xfrm>
            <a:off x="4656634" y="3093541"/>
            <a:ext cx="2965044"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Concern:</a:t>
            </a:r>
            <a:r>
              <a:rPr lang="en-US" sz="1400" dirty="0">
                <a:solidFill>
                  <a:srgbClr val="002733"/>
                </a:solidFill>
                <a:latin typeface="Inter" pitchFamily="34" charset="0"/>
                <a:ea typeface="Inter" pitchFamily="34" charset="-122"/>
                <a:cs typeface="Inter" pitchFamily="34" charset="-120"/>
              </a:rPr>
              <a:t> control of technology and data.</a:t>
            </a:r>
            <a:endParaRPr lang="en-US" sz="1400" dirty="0"/>
          </a:p>
        </p:txBody>
      </p:sp>
      <p:sp>
        <p:nvSpPr>
          <p:cNvPr id="13" name="Text 11"/>
          <p:cNvSpPr/>
          <p:nvPr/>
        </p:nvSpPr>
        <p:spPr>
          <a:xfrm>
            <a:off x="4656634" y="3657402"/>
            <a:ext cx="2965044"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Ask:</a:t>
            </a:r>
            <a:r>
              <a:rPr lang="en-US" sz="1400" dirty="0">
                <a:solidFill>
                  <a:srgbClr val="002733"/>
                </a:solidFill>
                <a:latin typeface="Inter" pitchFamily="34" charset="0"/>
                <a:ea typeface="Inter" pitchFamily="34" charset="-122"/>
                <a:cs typeface="Inter" pitchFamily="34" charset="-120"/>
              </a:rPr>
              <a:t> agree governance and cost targets before launch.</a:t>
            </a:r>
            <a:endParaRPr lang="en-US" sz="1400" dirty="0"/>
          </a:p>
        </p:txBody>
      </p:sp>
      <p:sp>
        <p:nvSpPr>
          <p:cNvPr id="14" name="Shape 12"/>
          <p:cNvSpPr/>
          <p:nvPr/>
        </p:nvSpPr>
        <p:spPr>
          <a:xfrm>
            <a:off x="7992517" y="2163961"/>
            <a:ext cx="3386683" cy="2184301"/>
          </a:xfrm>
          <a:prstGeom prst="rect">
            <a:avLst/>
          </a:prstGeom>
          <a:solidFill>
            <a:srgbClr val="FFFFFF"/>
          </a:solidFill>
          <a:ln/>
        </p:spPr>
      </p:sp>
      <p:sp>
        <p:nvSpPr>
          <p:cNvPr id="15" name="Shape 13"/>
          <p:cNvSpPr/>
          <p:nvPr/>
        </p:nvSpPr>
        <p:spPr>
          <a:xfrm>
            <a:off x="7992517" y="2189361"/>
            <a:ext cx="3386683" cy="0"/>
          </a:xfrm>
          <a:prstGeom prst="line">
            <a:avLst/>
          </a:prstGeom>
          <a:noFill/>
          <a:ln w="50800">
            <a:solidFill>
              <a:srgbClr val="008C82"/>
            </a:solidFill>
            <a:prstDash val="solid"/>
          </a:ln>
        </p:spPr>
      </p:sp>
      <p:sp>
        <p:nvSpPr>
          <p:cNvPr id="16" name="Text 14"/>
          <p:cNvSpPr/>
          <p:nvPr/>
        </p:nvSpPr>
        <p:spPr>
          <a:xfrm>
            <a:off x="8246517" y="2443361"/>
            <a:ext cx="2965044"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733"/>
                </a:solidFill>
                <a:latin typeface="Inter" pitchFamily="34" charset="0"/>
                <a:ea typeface="Inter" pitchFamily="34" charset="-122"/>
                <a:cs typeface="Inter" pitchFamily="34" charset="-120"/>
              </a:rPr>
              <a:t>Management and Supervisory Boards</a:t>
            </a:r>
            <a:endParaRPr lang="en-US" sz="1800" dirty="0"/>
          </a:p>
        </p:txBody>
      </p:sp>
      <p:sp>
        <p:nvSpPr>
          <p:cNvPr id="17" name="Text 15"/>
          <p:cNvSpPr/>
          <p:nvPr/>
        </p:nvSpPr>
        <p:spPr>
          <a:xfrm>
            <a:off x="8246517" y="3093541"/>
            <a:ext cx="2965044"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Concern:</a:t>
            </a:r>
            <a:r>
              <a:rPr lang="en-US" sz="1400" dirty="0">
                <a:solidFill>
                  <a:srgbClr val="002733"/>
                </a:solidFill>
                <a:latin typeface="Inter" pitchFamily="34" charset="0"/>
                <a:ea typeface="Inter" pitchFamily="34" charset="-122"/>
                <a:cs typeface="Inter" pitchFamily="34" charset="-120"/>
              </a:rPr>
              <a:t> margin recovery and capital discipline.</a:t>
            </a:r>
            <a:endParaRPr lang="en-US" sz="1400" dirty="0"/>
          </a:p>
        </p:txBody>
      </p:sp>
      <p:sp>
        <p:nvSpPr>
          <p:cNvPr id="18" name="Text 16"/>
          <p:cNvSpPr/>
          <p:nvPr/>
        </p:nvSpPr>
        <p:spPr>
          <a:xfrm>
            <a:off x="8246517" y="3657402"/>
            <a:ext cx="2965044"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02733"/>
                </a:solidFill>
                <a:latin typeface="Inter" pitchFamily="34" charset="0"/>
                <a:ea typeface="Inter" pitchFamily="34" charset="-122"/>
                <a:cs typeface="Inter" pitchFamily="34" charset="-120"/>
              </a:rPr>
              <a:t>Ask:</a:t>
            </a:r>
            <a:r>
              <a:rPr lang="en-US" sz="1400" dirty="0">
                <a:solidFill>
                  <a:srgbClr val="002733"/>
                </a:solidFill>
                <a:latin typeface="Inter" pitchFamily="34" charset="0"/>
                <a:ea typeface="Inter" pitchFamily="34" charset="-122"/>
                <a:cs typeface="Inter" pitchFamily="34" charset="-120"/>
              </a:rPr>
              <a:t> release funds phase by phase, at each gate.</a:t>
            </a:r>
            <a:endParaRPr lang="en-US" sz="1400" dirty="0"/>
          </a:p>
        </p:txBody>
      </p:sp>
      <p:sp>
        <p:nvSpPr>
          <p:cNvPr id="19"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7A80"/>
                </a:solidFill>
                <a:latin typeface="Inter" pitchFamily="34" charset="0"/>
                <a:ea typeface="Inter" pitchFamily="34" charset="-122"/>
                <a:cs typeface="Inter" pitchFamily="34" charset="-120"/>
              </a:rPr>
              <a:t>Stakeholder concerns are the team's assessment of the audience</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7A80"/>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2733"/>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0" y="0"/>
            <a:ext cx="1524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7C9C4"/>
                </a:solidFill>
                <a:latin typeface="Inter" pitchFamily="34" charset="0"/>
                <a:ea typeface="Inter" pitchFamily="34" charset="-122"/>
                <a:cs typeface="Inter" pitchFamily="34" charset="-120"/>
              </a:rPr>
              <a:t>THE DECISION FOR TODAY</a:t>
            </a:r>
            <a:endParaRPr lang="en-US" sz="1200" dirty="0"/>
          </a:p>
        </p:txBody>
      </p:sp>
      <p:sp>
        <p:nvSpPr>
          <p:cNvPr id="4"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7"/>
                </a:solidFill>
                <a:latin typeface="Inter" pitchFamily="34" charset="0"/>
                <a:ea typeface="Inter" pitchFamily="34" charset="-122"/>
                <a:cs typeface="Inter" pitchFamily="34" charset="-120"/>
              </a:rPr>
              <a:t>Approve the unit-cost program</a:t>
            </a:r>
            <a:endParaRPr lang="en-US" sz="3600" dirty="0"/>
          </a:p>
        </p:txBody>
      </p:sp>
      <p:sp>
        <p:nvSpPr>
          <p:cNvPr id="5" name="Shape 2"/>
          <p:cNvSpPr/>
          <p:nvPr/>
        </p:nvSpPr>
        <p:spPr>
          <a:xfrm>
            <a:off x="812800" y="2886720"/>
            <a:ext cx="3386634" cy="1402060"/>
          </a:xfrm>
          <a:prstGeom prst="rect">
            <a:avLst/>
          </a:prstGeom>
          <a:solidFill>
            <a:srgbClr val="0A3945"/>
          </a:solidFill>
          <a:ln/>
        </p:spPr>
      </p:sp>
      <p:sp>
        <p:nvSpPr>
          <p:cNvPr id="6" name="Shape 3"/>
          <p:cNvSpPr/>
          <p:nvPr/>
        </p:nvSpPr>
        <p:spPr>
          <a:xfrm>
            <a:off x="812800" y="2912120"/>
            <a:ext cx="3386634" cy="0"/>
          </a:xfrm>
          <a:prstGeom prst="line">
            <a:avLst/>
          </a:prstGeom>
          <a:noFill/>
          <a:ln w="50800">
            <a:solidFill>
              <a:srgbClr val="008C82"/>
            </a:solidFill>
            <a:prstDash val="solid"/>
          </a:ln>
        </p:spPr>
      </p:sp>
      <p:sp>
        <p:nvSpPr>
          <p:cNvPr id="7" name="Text 4"/>
          <p:cNvSpPr/>
          <p:nvPr/>
        </p:nvSpPr>
        <p:spPr>
          <a:xfrm>
            <a:off x="1066800" y="3166120"/>
            <a:ext cx="296499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7C9C4"/>
                </a:solidFill>
                <a:latin typeface="Inter" pitchFamily="34" charset="0"/>
                <a:ea typeface="Inter" pitchFamily="34" charset="-122"/>
                <a:cs typeface="Inter" pitchFamily="34" charset="-120"/>
              </a:rPr>
              <a:t>1</a:t>
            </a:r>
            <a:endParaRPr lang="en-US" sz="2800" dirty="0"/>
          </a:p>
        </p:txBody>
      </p:sp>
      <p:sp>
        <p:nvSpPr>
          <p:cNvPr id="8" name="Text 5"/>
          <p:cNvSpPr/>
          <p:nvPr/>
        </p:nvSpPr>
        <p:spPr>
          <a:xfrm>
            <a:off x="1066800" y="3597920"/>
            <a:ext cx="2964993"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7F7"/>
                </a:solidFill>
                <a:latin typeface="Inter" pitchFamily="34" charset="0"/>
                <a:ea typeface="Inter" pitchFamily="34" charset="-122"/>
                <a:cs typeface="Inter" pitchFamily="34" charset="-120"/>
              </a:rPr>
              <a:t>Adopt entry-segment cost per car as the single target</a:t>
            </a:r>
            <a:endParaRPr lang="en-US" sz="1400" dirty="0"/>
          </a:p>
        </p:txBody>
      </p:sp>
      <p:sp>
        <p:nvSpPr>
          <p:cNvPr id="9" name="Shape 6"/>
          <p:cNvSpPr/>
          <p:nvPr/>
        </p:nvSpPr>
        <p:spPr>
          <a:xfrm>
            <a:off x="4402634" y="2886720"/>
            <a:ext cx="3386683" cy="1402060"/>
          </a:xfrm>
          <a:prstGeom prst="rect">
            <a:avLst/>
          </a:prstGeom>
          <a:solidFill>
            <a:srgbClr val="0A3945"/>
          </a:solidFill>
          <a:ln/>
        </p:spPr>
      </p:sp>
      <p:sp>
        <p:nvSpPr>
          <p:cNvPr id="10" name="Shape 7"/>
          <p:cNvSpPr/>
          <p:nvPr/>
        </p:nvSpPr>
        <p:spPr>
          <a:xfrm>
            <a:off x="4402634" y="2912120"/>
            <a:ext cx="3386683" cy="0"/>
          </a:xfrm>
          <a:prstGeom prst="line">
            <a:avLst/>
          </a:prstGeom>
          <a:noFill/>
          <a:ln w="50800">
            <a:solidFill>
              <a:srgbClr val="008C82"/>
            </a:solidFill>
            <a:prstDash val="solid"/>
          </a:ln>
        </p:spPr>
      </p:sp>
      <p:sp>
        <p:nvSpPr>
          <p:cNvPr id="11" name="Text 8"/>
          <p:cNvSpPr/>
          <p:nvPr/>
        </p:nvSpPr>
        <p:spPr>
          <a:xfrm>
            <a:off x="4656634" y="3166120"/>
            <a:ext cx="2965044"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7C9C4"/>
                </a:solidFill>
                <a:latin typeface="Inter" pitchFamily="34" charset="0"/>
                <a:ea typeface="Inter" pitchFamily="34" charset="-122"/>
                <a:cs typeface="Inter" pitchFamily="34" charset="-120"/>
              </a:rPr>
              <a:t>2</a:t>
            </a:r>
            <a:endParaRPr lang="en-US" sz="2800" dirty="0"/>
          </a:p>
        </p:txBody>
      </p:sp>
      <p:sp>
        <p:nvSpPr>
          <p:cNvPr id="12" name="Text 9"/>
          <p:cNvSpPr/>
          <p:nvPr/>
        </p:nvSpPr>
        <p:spPr>
          <a:xfrm>
            <a:off x="4656634" y="3597920"/>
            <a:ext cx="2965044"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7F7"/>
                </a:solidFill>
                <a:latin typeface="Inter" pitchFamily="34" charset="0"/>
                <a:ea typeface="Inter" pitchFamily="34" charset="-122"/>
                <a:cs typeface="Inter" pitchFamily="34" charset="-120"/>
              </a:rPr>
              <a:t>Release phase 1 to size the levers and select partners</a:t>
            </a:r>
            <a:endParaRPr lang="en-US" sz="1400" dirty="0"/>
          </a:p>
        </p:txBody>
      </p:sp>
      <p:sp>
        <p:nvSpPr>
          <p:cNvPr id="13" name="Shape 10"/>
          <p:cNvSpPr/>
          <p:nvPr/>
        </p:nvSpPr>
        <p:spPr>
          <a:xfrm>
            <a:off x="7992517" y="2886720"/>
            <a:ext cx="3386683" cy="1402060"/>
          </a:xfrm>
          <a:prstGeom prst="rect">
            <a:avLst/>
          </a:prstGeom>
          <a:solidFill>
            <a:srgbClr val="0A3945"/>
          </a:solidFill>
          <a:ln/>
        </p:spPr>
      </p:sp>
      <p:sp>
        <p:nvSpPr>
          <p:cNvPr id="14" name="Shape 11"/>
          <p:cNvSpPr/>
          <p:nvPr/>
        </p:nvSpPr>
        <p:spPr>
          <a:xfrm>
            <a:off x="7992517" y="2912120"/>
            <a:ext cx="3386683" cy="0"/>
          </a:xfrm>
          <a:prstGeom prst="line">
            <a:avLst/>
          </a:prstGeom>
          <a:noFill/>
          <a:ln w="50800">
            <a:solidFill>
              <a:srgbClr val="008C82"/>
            </a:solidFill>
            <a:prstDash val="solid"/>
          </a:ln>
        </p:spPr>
      </p:sp>
      <p:sp>
        <p:nvSpPr>
          <p:cNvPr id="15" name="Text 12"/>
          <p:cNvSpPr/>
          <p:nvPr/>
        </p:nvSpPr>
        <p:spPr>
          <a:xfrm>
            <a:off x="8246517" y="3166120"/>
            <a:ext cx="2965044"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7C9C4"/>
                </a:solidFill>
                <a:latin typeface="Inter" pitchFamily="34" charset="0"/>
                <a:ea typeface="Inter" pitchFamily="34" charset="-122"/>
                <a:cs typeface="Inter" pitchFamily="34" charset="-120"/>
              </a:rPr>
              <a:t>3</a:t>
            </a:r>
            <a:endParaRPr lang="en-US" sz="2800" dirty="0"/>
          </a:p>
        </p:txBody>
      </p:sp>
      <p:sp>
        <p:nvSpPr>
          <p:cNvPr id="16" name="Text 13"/>
          <p:cNvSpPr/>
          <p:nvPr/>
        </p:nvSpPr>
        <p:spPr>
          <a:xfrm>
            <a:off x="8246517" y="3597920"/>
            <a:ext cx="2965044"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7F7"/>
                </a:solidFill>
                <a:latin typeface="Inter" pitchFamily="34" charset="0"/>
                <a:ea typeface="Inter" pitchFamily="34" charset="-122"/>
                <a:cs typeface="Inter" pitchFamily="34" charset="-120"/>
              </a:rPr>
              <a:t>Set gates that release funds only against results</a:t>
            </a:r>
            <a:endParaRPr lang="en-US" sz="1400" dirty="0"/>
          </a:p>
        </p:txBody>
      </p:sp>
      <p:sp>
        <p:nvSpPr>
          <p:cNvPr id="17" name="Text 14"/>
          <p:cNvSpPr/>
          <p:nvPr/>
        </p:nvSpPr>
        <p:spPr>
          <a:xfrm>
            <a:off x="812800" y="55448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F7F7"/>
                </a:solidFill>
                <a:latin typeface="Inter" pitchFamily="34" charset="0"/>
                <a:ea typeface="Inter" pitchFamily="34" charset="-122"/>
                <a:cs typeface="Inter" pitchFamily="34" charset="-120"/>
              </a:rPr>
              <a:t>Questions: what would you need to see before approving phase 1?</a:t>
            </a:r>
            <a:endParaRPr lang="en-US" sz="1800" dirty="0"/>
          </a:p>
        </p:txBody>
      </p:sp>
      <p:sp>
        <p:nvSpPr>
          <p:cNvPr id="18"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7C9C4"/>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theme/theme1.xml><?xml version="1.0" encoding="utf-8"?>
<a:theme xmlns:a="http://schemas.openxmlformats.org/drawingml/2006/main" name="VW After the Capacity Cuts">
  <a:themeElements>
    <a:clrScheme name="VW After the Capacity Cuts">
      <a:dk1>
        <a:srgbClr val="002733"/>
      </a:dk1>
      <a:lt1>
        <a:srgbClr val="F4F7F7"/>
      </a:lt1>
      <a:dk2>
        <a:srgbClr val="3D5B64"/>
      </a:dk2>
      <a:lt2>
        <a:srgbClr val="DCE2E3"/>
      </a:lt2>
      <a:accent1>
        <a:srgbClr val="87C9C4"/>
      </a:accent1>
      <a:accent2>
        <a:srgbClr val="006B63"/>
      </a:accent2>
      <a:accent3>
        <a:srgbClr val="008C82"/>
      </a:accent3>
      <a:accent4>
        <a:srgbClr val="43AAA3"/>
      </a:accent4>
      <a:accent5>
        <a:srgbClr val="5F7A80"/>
      </a:accent5>
      <a:accent6>
        <a:srgbClr val="9AA0A6"/>
      </a:accent6>
      <a:hlink>
        <a:srgbClr val="0563C1"/>
      </a:hlink>
      <a:folHlink>
        <a:srgbClr val="954F72"/>
      </a:folHlink>
    </a:clrScheme>
    <a:fontScheme name="VW After the Capacity Cuts">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VW After the Capacity Cuts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2026-10-28T15:46:30Z</dcterms:created>
  <dcterms:modified xsi:type="dcterms:W3CDTF">2026-10-28T15:46:30Z</dcterms:modified>
</cp:coreProperties>
</file>